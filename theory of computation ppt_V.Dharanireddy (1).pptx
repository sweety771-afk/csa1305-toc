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74" r:id="rId5"/>
    <p:sldId id="258" r:id="rId6"/>
    <p:sldId id="259" r:id="rId7"/>
    <p:sldId id="260" r:id="rId8"/>
    <p:sldId id="262" r:id="rId9"/>
    <p:sldId id="263" r:id="rId10"/>
    <p:sldId id="268" r:id="rId11"/>
    <p:sldId id="269" r:id="rId12"/>
    <p:sldId id="270" r:id="rId13"/>
    <p:sldId id="264" r:id="rId14"/>
    <p:sldId id="265" r:id="rId15"/>
    <p:sldId id="266" r:id="rId16"/>
    <p:sldId id="267" r:id="rId17"/>
  </p:sldIdLst>
  <p:sldSz cx="12179300" cy="6858000"/>
  <p:notesSz cx="121793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3447" y="2125980"/>
            <a:ext cx="10352405" cy="1440180"/>
          </a:xfrm>
          <a:prstGeom prst="rect">
            <a:avLst/>
          </a:prstGeom>
        </p:spPr>
        <p:txBody>
          <a:bodyPr wrap="square" lIns="0" tIns="0" rIns="0" bIns="0">
            <a:spAutoFit/>
          </a:bodyPr>
          <a:lstStyle>
            <a:lvl1pPr>
              <a:defRPr sz="4400" b="1" i="0">
                <a:solidFill>
                  <a:schemeClr val="tx1"/>
                </a:solidFill>
                <a:latin typeface="Roboto"/>
                <a:cs typeface="Roboto"/>
              </a:defRPr>
            </a:lvl1pPr>
          </a:lstStyle>
          <a:p/>
        </p:txBody>
      </p:sp>
      <p:sp>
        <p:nvSpPr>
          <p:cNvPr id="3" name="Holder 3"/>
          <p:cNvSpPr>
            <a:spLocks noGrp="1"/>
          </p:cNvSpPr>
          <p:nvPr>
            <p:ph type="subTitle" idx="4"/>
          </p:nvPr>
        </p:nvSpPr>
        <p:spPr>
          <a:xfrm>
            <a:off x="1826895" y="3840480"/>
            <a:ext cx="8525510" cy="1714500"/>
          </a:xfrm>
          <a:prstGeom prst="rect">
            <a:avLst/>
          </a:prstGeom>
        </p:spPr>
        <p:txBody>
          <a:bodyPr wrap="square" lIns="0" tIns="0" rIns="0" bIns="0">
            <a:spAutoFit/>
          </a:bodyPr>
          <a:lstStyle>
            <a:lvl1pPr>
              <a:defRPr sz="2400" b="1" i="0">
                <a:solidFill>
                  <a:schemeClr val="tx1"/>
                </a:solidFill>
                <a:latin typeface="Roboto Bk"/>
                <a:cs typeface="Roboto Bk"/>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Roboto"/>
                <a:cs typeface="Roboto"/>
              </a:defRPr>
            </a:lvl1pPr>
          </a:lstStyle>
          <a:p/>
        </p:txBody>
      </p:sp>
      <p:sp>
        <p:nvSpPr>
          <p:cNvPr id="3" name="Holder 3"/>
          <p:cNvSpPr>
            <a:spLocks noGrp="1"/>
          </p:cNvSpPr>
          <p:nvPr>
            <p:ph type="body" idx="1"/>
          </p:nvPr>
        </p:nvSpPr>
        <p:spPr/>
        <p:txBody>
          <a:bodyPr lIns="0" tIns="0" rIns="0" bIns="0"/>
          <a:lstStyle>
            <a:lvl1pPr>
              <a:defRPr sz="2400" b="1" i="0">
                <a:solidFill>
                  <a:schemeClr val="tx1"/>
                </a:solidFill>
                <a:latin typeface="Roboto Bk"/>
                <a:cs typeface="Roboto Bk"/>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Roboto"/>
                <a:cs typeface="Roboto"/>
              </a:defRPr>
            </a:lvl1pPr>
          </a:lstStyle>
          <a:p/>
        </p:txBody>
      </p:sp>
      <p:sp>
        <p:nvSpPr>
          <p:cNvPr id="3" name="Holder 3"/>
          <p:cNvSpPr>
            <a:spLocks noGrp="1"/>
          </p:cNvSpPr>
          <p:nvPr>
            <p:ph sz="half" idx="2"/>
          </p:nvPr>
        </p:nvSpPr>
        <p:spPr>
          <a:xfrm>
            <a:off x="608965" y="1577340"/>
            <a:ext cx="5297995"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2339" y="1577340"/>
            <a:ext cx="5297995"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Roboto"/>
                <a:cs typeface="Roboto"/>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675329" y="474155"/>
            <a:ext cx="4828641" cy="695325"/>
          </a:xfrm>
          <a:prstGeom prst="rect">
            <a:avLst/>
          </a:prstGeom>
        </p:spPr>
        <p:txBody>
          <a:bodyPr wrap="square" lIns="0" tIns="0" rIns="0" bIns="0">
            <a:spAutoFit/>
          </a:bodyPr>
          <a:lstStyle>
            <a:lvl1pPr>
              <a:defRPr sz="4400" b="1" i="0">
                <a:solidFill>
                  <a:schemeClr val="tx1"/>
                </a:solidFill>
                <a:latin typeface="Roboto"/>
                <a:cs typeface="Roboto"/>
              </a:defRPr>
            </a:lvl1pPr>
          </a:lstStyle>
          <a:p/>
        </p:txBody>
      </p:sp>
      <p:sp>
        <p:nvSpPr>
          <p:cNvPr id="3" name="Holder 3"/>
          <p:cNvSpPr>
            <a:spLocks noGrp="1"/>
          </p:cNvSpPr>
          <p:nvPr>
            <p:ph type="body" idx="1"/>
          </p:nvPr>
        </p:nvSpPr>
        <p:spPr>
          <a:xfrm>
            <a:off x="563898" y="1606114"/>
            <a:ext cx="10772140" cy="4440555"/>
          </a:xfrm>
          <a:prstGeom prst="rect">
            <a:avLst/>
          </a:prstGeom>
        </p:spPr>
        <p:txBody>
          <a:bodyPr wrap="square" lIns="0" tIns="0" rIns="0" bIns="0">
            <a:spAutoFit/>
          </a:bodyPr>
          <a:lstStyle>
            <a:lvl1pPr>
              <a:defRPr sz="2400" b="1" i="0">
                <a:solidFill>
                  <a:schemeClr val="tx1"/>
                </a:solidFill>
                <a:latin typeface="Roboto Bk"/>
                <a:cs typeface="Roboto Bk"/>
              </a:defRPr>
            </a:lvl1pPr>
          </a:lstStyle>
          <a:p/>
        </p:txBody>
      </p:sp>
      <p:sp>
        <p:nvSpPr>
          <p:cNvPr id="4" name="Holder 4"/>
          <p:cNvSpPr>
            <a:spLocks noGrp="1"/>
          </p:cNvSpPr>
          <p:nvPr>
            <p:ph type="ftr" sz="quarter" idx="5"/>
          </p:nvPr>
        </p:nvSpPr>
        <p:spPr>
          <a:xfrm>
            <a:off x="4140962" y="6377940"/>
            <a:ext cx="3897376"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8965" y="6377940"/>
            <a:ext cx="2801239"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69096" y="6377940"/>
            <a:ext cx="2801239"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jpe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305709" y="1840477"/>
            <a:ext cx="5942965" cy="1125220"/>
          </a:xfrm>
          <a:prstGeom prst="rect">
            <a:avLst/>
          </a:prstGeom>
        </p:spPr>
        <p:txBody>
          <a:bodyPr vert="horz" wrap="square" lIns="0" tIns="12065" rIns="0" bIns="0" rtlCol="0">
            <a:spAutoFit/>
          </a:bodyPr>
          <a:lstStyle/>
          <a:p>
            <a:pPr marL="7620" algn="ctr">
              <a:lnSpc>
                <a:spcPct val="100000"/>
              </a:lnSpc>
              <a:spcBef>
                <a:spcPts val="95"/>
              </a:spcBef>
            </a:pPr>
            <a:r>
              <a:rPr sz="3600" b="1" spc="-10" dirty="0">
                <a:latin typeface="Roboto"/>
                <a:cs typeface="Roboto"/>
              </a:rPr>
              <a:t>CSA1</a:t>
            </a:r>
            <a:r>
              <a:rPr lang="en-IN" altLang="en-US" sz="3600" b="1" spc="-10" dirty="0">
                <a:latin typeface="Roboto"/>
                <a:cs typeface="Roboto"/>
              </a:rPr>
              <a:t>305</a:t>
            </a:r>
            <a:endParaRPr sz="3600">
              <a:latin typeface="Roboto"/>
              <a:cs typeface="Roboto"/>
            </a:endParaRPr>
          </a:p>
          <a:p>
            <a:pPr marL="12700" marR="5080" algn="ctr">
              <a:lnSpc>
                <a:spcPct val="101000"/>
              </a:lnSpc>
            </a:pPr>
            <a:r>
              <a:rPr lang="en-IN" altLang="en-US" sz="3600" b="1">
                <a:latin typeface="Roboto"/>
                <a:cs typeface="Roboto"/>
              </a:rPr>
              <a:t>Theory Of Computation</a:t>
            </a:r>
            <a:endParaRPr lang="en-IN" altLang="en-US" sz="3600" b="1">
              <a:latin typeface="Roboto"/>
              <a:cs typeface="Roboto"/>
            </a:endParaRPr>
          </a:p>
        </p:txBody>
      </p:sp>
      <p:sp>
        <p:nvSpPr>
          <p:cNvPr id="3" name="object 3"/>
          <p:cNvSpPr txBox="1"/>
          <p:nvPr/>
        </p:nvSpPr>
        <p:spPr>
          <a:xfrm>
            <a:off x="298450" y="5105400"/>
            <a:ext cx="4665980" cy="1294130"/>
          </a:xfrm>
          <a:prstGeom prst="rect">
            <a:avLst/>
          </a:prstGeom>
        </p:spPr>
        <p:txBody>
          <a:bodyPr vert="horz" wrap="square" lIns="0" tIns="55244" rIns="0" bIns="0" rtlCol="0">
            <a:spAutoFit/>
          </a:bodyPr>
          <a:lstStyle/>
          <a:p>
            <a:pPr marL="12700" marR="5080">
              <a:lnSpc>
                <a:spcPct val="107000"/>
              </a:lnSpc>
              <a:spcBef>
                <a:spcPts val="435"/>
              </a:spcBef>
            </a:pPr>
            <a:r>
              <a:rPr sz="3200" b="1" spc="175" dirty="0">
                <a:latin typeface="Roboto"/>
                <a:cs typeface="Roboto"/>
              </a:rPr>
              <a:t>Presented</a:t>
            </a:r>
            <a:r>
              <a:rPr sz="3200" b="1" spc="55" dirty="0">
                <a:latin typeface="Roboto"/>
                <a:cs typeface="Roboto"/>
              </a:rPr>
              <a:t> </a:t>
            </a:r>
            <a:r>
              <a:rPr sz="3200" b="1" spc="120" dirty="0">
                <a:latin typeface="Roboto"/>
                <a:cs typeface="Roboto"/>
              </a:rPr>
              <a:t>by: </a:t>
            </a:r>
            <a:r>
              <a:rPr sz="2000" b="1" spc="85" dirty="0">
                <a:latin typeface="Times New Roman" panose="02020603050405020304" charset="0"/>
                <a:cs typeface="Times New Roman" panose="02020603050405020304" charset="0"/>
              </a:rPr>
              <a:t>V</a:t>
            </a:r>
            <a:r>
              <a:rPr sz="2000" b="1" spc="-50" dirty="0">
                <a:latin typeface="Times New Roman" panose="02020603050405020304" charset="0"/>
                <a:cs typeface="Times New Roman" panose="02020603050405020304" charset="0"/>
              </a:rPr>
              <a:t> </a:t>
            </a:r>
            <a:r>
              <a:rPr sz="2000" b="1" dirty="0">
                <a:latin typeface="Times New Roman" panose="02020603050405020304" charset="0"/>
                <a:cs typeface="Times New Roman" panose="02020603050405020304" charset="0"/>
              </a:rPr>
              <a:t>.</a:t>
            </a:r>
            <a:r>
              <a:rPr sz="2000" b="1" spc="-50" dirty="0">
                <a:latin typeface="Times New Roman" panose="02020603050405020304" charset="0"/>
                <a:cs typeface="Times New Roman" panose="02020603050405020304" charset="0"/>
              </a:rPr>
              <a:t> </a:t>
            </a:r>
            <a:r>
              <a:rPr lang="en-IN" altLang="en-US" sz="2000" b="1" spc="-50" dirty="0">
                <a:latin typeface="Times New Roman" panose="02020603050405020304" charset="0"/>
                <a:cs typeface="Times New Roman" panose="02020603050405020304" charset="0"/>
              </a:rPr>
              <a:t>V.</a:t>
            </a:r>
            <a:r>
              <a:rPr sz="2000" b="1" spc="145" dirty="0">
                <a:latin typeface="Times New Roman" panose="02020603050405020304" charset="0"/>
                <a:cs typeface="Times New Roman" panose="02020603050405020304" charset="0"/>
              </a:rPr>
              <a:t>Dharanireddy</a:t>
            </a:r>
            <a:r>
              <a:rPr sz="2000" b="1" spc="-10" dirty="0">
                <a:latin typeface="Times New Roman" panose="02020603050405020304" charset="0"/>
                <a:cs typeface="Times New Roman" panose="02020603050405020304" charset="0"/>
              </a:rPr>
              <a:t>(192311219)</a:t>
            </a:r>
            <a:endParaRPr sz="2000" b="1" spc="-10" dirty="0">
              <a:latin typeface="Times New Roman" panose="02020603050405020304" charset="0"/>
              <a:cs typeface="Times New Roman" panose="02020603050405020304" charset="0"/>
            </a:endParaRPr>
          </a:p>
          <a:p>
            <a:pPr marL="12700" marR="5080">
              <a:lnSpc>
                <a:spcPct val="107000"/>
              </a:lnSpc>
              <a:spcBef>
                <a:spcPts val="435"/>
              </a:spcBef>
            </a:pPr>
            <a:endParaRPr lang="en-IN" altLang="en-US" sz="2000" b="1">
              <a:latin typeface="Times New Roman" panose="02020603050405020304" charset="0"/>
              <a:cs typeface="Times New Roman" panose="02020603050405020304" charset="0"/>
            </a:endParaRPr>
          </a:p>
        </p:txBody>
      </p:sp>
      <p:pic>
        <p:nvPicPr>
          <p:cNvPr id="4" name="object 4"/>
          <p:cNvPicPr/>
          <p:nvPr/>
        </p:nvPicPr>
        <p:blipFill>
          <a:blip r:embed="rId1" cstate="print"/>
          <a:stretch>
            <a:fillRect/>
          </a:stretch>
        </p:blipFill>
        <p:spPr>
          <a:xfrm>
            <a:off x="356979" y="191426"/>
            <a:ext cx="1102436" cy="1341485"/>
          </a:xfrm>
          <a:prstGeom prst="rect">
            <a:avLst/>
          </a:prstGeom>
        </p:spPr>
      </p:pic>
      <p:pic>
        <p:nvPicPr>
          <p:cNvPr id="5" name="object 5"/>
          <p:cNvPicPr/>
          <p:nvPr/>
        </p:nvPicPr>
        <p:blipFill>
          <a:blip r:embed="rId2" cstate="print"/>
          <a:stretch>
            <a:fillRect/>
          </a:stretch>
        </p:blipFill>
        <p:spPr>
          <a:xfrm>
            <a:off x="10503279" y="191426"/>
            <a:ext cx="1518530" cy="1341485"/>
          </a:xfrm>
          <a:prstGeom prst="rect">
            <a:avLst/>
          </a:prstGeom>
        </p:spPr>
      </p:pic>
      <p:sp>
        <p:nvSpPr>
          <p:cNvPr id="6" name="object 6"/>
          <p:cNvSpPr txBox="1"/>
          <p:nvPr/>
        </p:nvSpPr>
        <p:spPr>
          <a:xfrm>
            <a:off x="6699093" y="5018787"/>
            <a:ext cx="4935220" cy="941705"/>
          </a:xfrm>
          <a:prstGeom prst="rect">
            <a:avLst/>
          </a:prstGeom>
        </p:spPr>
        <p:txBody>
          <a:bodyPr vert="horz" wrap="square" lIns="0" tIns="48895" rIns="0" bIns="0" rtlCol="0">
            <a:spAutoFit/>
          </a:bodyPr>
          <a:lstStyle/>
          <a:p>
            <a:pPr marL="12700">
              <a:lnSpc>
                <a:spcPct val="100000"/>
              </a:lnSpc>
              <a:spcBef>
                <a:spcPts val="385"/>
              </a:spcBef>
            </a:pPr>
            <a:r>
              <a:rPr sz="3000" b="1" spc="265" dirty="0">
                <a:latin typeface="Roboto"/>
                <a:cs typeface="Roboto"/>
              </a:rPr>
              <a:t>Under</a:t>
            </a:r>
            <a:r>
              <a:rPr sz="3000" b="1" spc="40" dirty="0">
                <a:latin typeface="Roboto"/>
                <a:cs typeface="Roboto"/>
              </a:rPr>
              <a:t> </a:t>
            </a:r>
            <a:r>
              <a:rPr sz="3000" b="1" spc="190" dirty="0">
                <a:latin typeface="Roboto"/>
                <a:cs typeface="Roboto"/>
              </a:rPr>
              <a:t>the</a:t>
            </a:r>
            <a:r>
              <a:rPr sz="3000" b="1" spc="40" dirty="0">
                <a:latin typeface="Roboto"/>
                <a:cs typeface="Roboto"/>
              </a:rPr>
              <a:t> </a:t>
            </a:r>
            <a:r>
              <a:rPr sz="3000" b="1" spc="210" dirty="0">
                <a:latin typeface="Roboto"/>
                <a:cs typeface="Roboto"/>
              </a:rPr>
              <a:t>Guidance</a:t>
            </a:r>
            <a:r>
              <a:rPr sz="3000" b="1" spc="40" dirty="0">
                <a:latin typeface="Roboto"/>
                <a:cs typeface="Roboto"/>
              </a:rPr>
              <a:t> </a:t>
            </a:r>
            <a:r>
              <a:rPr sz="3000" b="1" spc="145" dirty="0">
                <a:latin typeface="Roboto"/>
                <a:cs typeface="Roboto"/>
              </a:rPr>
              <a:t>of</a:t>
            </a:r>
            <a:r>
              <a:rPr sz="3000" b="1" spc="45" dirty="0">
                <a:latin typeface="Roboto"/>
                <a:cs typeface="Roboto"/>
              </a:rPr>
              <a:t> </a:t>
            </a:r>
            <a:r>
              <a:rPr sz="3000" b="1" spc="5" dirty="0">
                <a:latin typeface="Roboto"/>
                <a:cs typeface="Roboto"/>
              </a:rPr>
              <a:t>:</a:t>
            </a:r>
            <a:endParaRPr sz="3000">
              <a:latin typeface="Roboto"/>
              <a:cs typeface="Roboto"/>
            </a:endParaRPr>
          </a:p>
          <a:p>
            <a:pPr marL="285115">
              <a:lnSpc>
                <a:spcPct val="100000"/>
              </a:lnSpc>
              <a:spcBef>
                <a:spcPts val="245"/>
              </a:spcBef>
            </a:pPr>
            <a:r>
              <a:rPr sz="2600" b="1" spc="245" dirty="0">
                <a:latin typeface="Times New Roman" panose="02020603050405020304" charset="0"/>
                <a:cs typeface="Times New Roman" panose="02020603050405020304" charset="0"/>
              </a:rPr>
              <a:t>Dr</a:t>
            </a:r>
            <a:r>
              <a:rPr sz="2600" b="1" spc="-10" dirty="0">
                <a:latin typeface="Times New Roman" panose="02020603050405020304" charset="0"/>
                <a:cs typeface="Times New Roman" panose="02020603050405020304" charset="0"/>
              </a:rPr>
              <a:t> </a:t>
            </a:r>
            <a:r>
              <a:rPr sz="2600" b="1" dirty="0">
                <a:latin typeface="Times New Roman" panose="02020603050405020304" charset="0"/>
                <a:cs typeface="Times New Roman" panose="02020603050405020304" charset="0"/>
              </a:rPr>
              <a:t>.</a:t>
            </a:r>
            <a:r>
              <a:rPr sz="2600" b="1" spc="-10" dirty="0">
                <a:latin typeface="Times New Roman" panose="02020603050405020304" charset="0"/>
                <a:cs typeface="Times New Roman" panose="02020603050405020304" charset="0"/>
              </a:rPr>
              <a:t> </a:t>
            </a:r>
            <a:r>
              <a:rPr lang="en-IN" altLang="en-US" sz="2600" b="1" spc="-10" dirty="0">
                <a:latin typeface="Times New Roman" panose="02020603050405020304" charset="0"/>
                <a:cs typeface="Times New Roman" panose="02020603050405020304" charset="0"/>
              </a:rPr>
              <a:t>Bala Manigandhan</a:t>
            </a:r>
            <a:endParaRPr lang="en-IN" altLang="en-US" sz="2600" b="1" spc="-10" dirty="0">
              <a:latin typeface="Times New Roman" panose="02020603050405020304" charset="0"/>
              <a:cs typeface="Times New Roman" panose="02020603050405020304" charset="0"/>
            </a:endParaRPr>
          </a:p>
        </p:txBody>
      </p:sp>
      <p:sp>
        <p:nvSpPr>
          <p:cNvPr id="7" name="object 7" descr="$PPTXTitle"/>
          <p:cNvSpPr txBox="1">
            <a:spLocks noGrp="1"/>
          </p:cNvSpPr>
          <p:nvPr>
            <p:ph type="title"/>
          </p:nvPr>
        </p:nvSpPr>
        <p:spPr>
          <a:xfrm>
            <a:off x="2051050" y="76200"/>
            <a:ext cx="7599680" cy="1006475"/>
          </a:xfrm>
          <a:prstGeom prst="rect">
            <a:avLst/>
          </a:prstGeom>
        </p:spPr>
        <p:txBody>
          <a:bodyPr vert="horz" wrap="square" lIns="0" tIns="27305" rIns="0" bIns="0" rtlCol="0">
            <a:spAutoFit/>
          </a:bodyPr>
          <a:lstStyle/>
          <a:p>
            <a:pPr marL="2277110" marR="5080" indent="-2265045" algn="ctr">
              <a:lnSpc>
                <a:spcPts val="3820"/>
              </a:lnSpc>
              <a:spcBef>
                <a:spcPts val="215"/>
              </a:spcBef>
            </a:pPr>
            <a:r>
              <a:rPr lang="en-IN" altLang="en-US" sz="3200">
                <a:latin typeface="Calibri" panose="020F0502020204030204"/>
                <a:cs typeface="Calibri" panose="020F0502020204030204"/>
              </a:rPr>
              <a:t>Automata Theory NFA,DFA, MATHEMATICAL INDUCTION</a:t>
            </a:r>
            <a:endParaRPr lang="en-IN" altLang="en-US" sz="3200">
              <a:latin typeface="Calibri" panose="020F0502020204030204"/>
              <a:cs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602615">
              <a:lnSpc>
                <a:spcPct val="100000"/>
              </a:lnSpc>
              <a:spcBef>
                <a:spcPts val="95"/>
              </a:spcBef>
            </a:pPr>
            <a:r>
              <a:rPr spc="330" dirty="0"/>
              <a:t>Introduction</a:t>
            </a:r>
            <a:endParaRPr spc="330" dirty="0"/>
          </a:p>
        </p:txBody>
      </p:sp>
      <p:pic>
        <p:nvPicPr>
          <p:cNvPr id="3" name="object 3"/>
          <p:cNvPicPr/>
          <p:nvPr/>
        </p:nvPicPr>
        <p:blipFill>
          <a:blip r:embed="rId1" cstate="print"/>
          <a:stretch>
            <a:fillRect/>
          </a:stretch>
        </p:blipFill>
        <p:spPr>
          <a:xfrm>
            <a:off x="356979" y="191426"/>
            <a:ext cx="1102436" cy="1341485"/>
          </a:xfrm>
          <a:prstGeom prst="rect">
            <a:avLst/>
          </a:prstGeom>
        </p:spPr>
      </p:pic>
      <p:pic>
        <p:nvPicPr>
          <p:cNvPr id="4" name="object 4"/>
          <p:cNvPicPr/>
          <p:nvPr/>
        </p:nvPicPr>
        <p:blipFill>
          <a:blip r:embed="rId2" cstate="print"/>
          <a:stretch>
            <a:fillRect/>
          </a:stretch>
        </p:blipFill>
        <p:spPr>
          <a:xfrm>
            <a:off x="10503279" y="191426"/>
            <a:ext cx="1518530" cy="1341485"/>
          </a:xfrm>
          <a:prstGeom prst="rect">
            <a:avLst/>
          </a:prstGeom>
        </p:spPr>
      </p:pic>
      <p:sp>
        <p:nvSpPr>
          <p:cNvPr id="5" name="object 5"/>
          <p:cNvSpPr txBox="1"/>
          <p:nvPr/>
        </p:nvSpPr>
        <p:spPr>
          <a:xfrm>
            <a:off x="450913" y="2514663"/>
            <a:ext cx="11329035" cy="1934210"/>
          </a:xfrm>
          <a:prstGeom prst="rect">
            <a:avLst/>
          </a:prstGeom>
        </p:spPr>
        <p:txBody>
          <a:bodyPr vert="horz" wrap="square" lIns="0" tIns="10795" rIns="0" bIns="0" rtlCol="0">
            <a:spAutoFit/>
          </a:bodyPr>
          <a:lstStyle/>
          <a:p>
            <a:pPr marL="371475" marR="5080" indent="-359410">
              <a:lnSpc>
                <a:spcPct val="100000"/>
              </a:lnSpc>
              <a:spcBef>
                <a:spcPts val="85"/>
              </a:spcBef>
              <a:buChar char="•"/>
              <a:tabLst>
                <a:tab pos="371475" algn="l"/>
              </a:tabLst>
            </a:pPr>
            <a:r>
              <a:rPr lang="en-US" altLang="en-US" sz="2500">
                <a:latin typeface="Times New Roman" panose="02020603050405020304" charset="0"/>
                <a:cs typeface="Times New Roman" panose="02020603050405020304" charset="0"/>
              </a:rPr>
              <a:t>Automata Theory is a branch of theoretical computer science that studies abstract machines and the computational problems they can solve. It forms the foundation of compiler design, artificial intelligence, lexical analysis, pattern matching, and digital circuit design. Finite Automata are mathematical models used to recognize patterns and process input strings efficiently.</a:t>
            </a:r>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1289050" y="1287780"/>
            <a:ext cx="9286240" cy="5130800"/>
          </a:xfrm>
          <a:prstGeom prst="rect">
            <a:avLst/>
          </a:prstGeom>
        </p:spPr>
      </p:pic>
      <p:pic>
        <p:nvPicPr>
          <p:cNvPr id="5" name="object 3"/>
          <p:cNvPicPr/>
          <p:nvPr/>
        </p:nvPicPr>
        <p:blipFill>
          <a:blip r:embed="rId2" cstate="print"/>
          <a:stretch>
            <a:fillRect/>
          </a:stretch>
        </p:blipFill>
        <p:spPr>
          <a:xfrm>
            <a:off x="69959" y="76491"/>
            <a:ext cx="1102436" cy="1341485"/>
          </a:xfrm>
          <a:prstGeom prst="rect">
            <a:avLst/>
          </a:prstGeom>
        </p:spPr>
      </p:pic>
      <p:pic>
        <p:nvPicPr>
          <p:cNvPr id="6" name="object 4"/>
          <p:cNvPicPr/>
          <p:nvPr/>
        </p:nvPicPr>
        <p:blipFill>
          <a:blip r:embed="rId3" cstate="print"/>
          <a:stretch>
            <a:fillRect/>
          </a:stretch>
        </p:blipFill>
        <p:spPr>
          <a:xfrm>
            <a:off x="10660759" y="291"/>
            <a:ext cx="1518530" cy="13414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935355">
              <a:lnSpc>
                <a:spcPct val="100000"/>
              </a:lnSpc>
              <a:spcBef>
                <a:spcPts val="95"/>
              </a:spcBef>
            </a:pPr>
            <a:r>
              <a:rPr spc="225" dirty="0"/>
              <a:t>Objectives</a:t>
            </a:r>
            <a:endParaRPr spc="225" dirty="0"/>
          </a:p>
        </p:txBody>
      </p:sp>
      <p:pic>
        <p:nvPicPr>
          <p:cNvPr id="3" name="object 3"/>
          <p:cNvPicPr/>
          <p:nvPr/>
        </p:nvPicPr>
        <p:blipFill>
          <a:blip r:embed="rId1" cstate="print"/>
          <a:stretch>
            <a:fillRect/>
          </a:stretch>
        </p:blipFill>
        <p:spPr>
          <a:xfrm>
            <a:off x="356979" y="191426"/>
            <a:ext cx="1102436" cy="1341485"/>
          </a:xfrm>
          <a:prstGeom prst="rect">
            <a:avLst/>
          </a:prstGeom>
        </p:spPr>
      </p:pic>
      <p:pic>
        <p:nvPicPr>
          <p:cNvPr id="4" name="object 4"/>
          <p:cNvPicPr/>
          <p:nvPr/>
        </p:nvPicPr>
        <p:blipFill>
          <a:blip r:embed="rId2" cstate="print"/>
          <a:stretch>
            <a:fillRect/>
          </a:stretch>
        </p:blipFill>
        <p:spPr>
          <a:xfrm>
            <a:off x="10503279" y="191426"/>
            <a:ext cx="1518530" cy="1341485"/>
          </a:xfrm>
          <a:prstGeom prst="rect">
            <a:avLst/>
          </a:prstGeom>
        </p:spPr>
      </p:pic>
      <p:sp>
        <p:nvSpPr>
          <p:cNvPr id="5" name="object 5"/>
          <p:cNvSpPr txBox="1"/>
          <p:nvPr/>
        </p:nvSpPr>
        <p:spPr>
          <a:xfrm>
            <a:off x="603250" y="1905000"/>
            <a:ext cx="10132060" cy="4140835"/>
          </a:xfrm>
          <a:prstGeom prst="rect">
            <a:avLst/>
          </a:prstGeom>
        </p:spPr>
        <p:txBody>
          <a:bodyPr vert="horz" wrap="square" lIns="0" tIns="12700" rIns="0" bIns="0" rtlCol="0">
            <a:noAutofit/>
          </a:bodyPr>
          <a:lstStyle/>
          <a:p>
            <a:pPr marL="200660" marR="2063750" indent="-187960">
              <a:lnSpc>
                <a:spcPct val="149000"/>
              </a:lnSpc>
              <a:spcBef>
                <a:spcPts val="100"/>
              </a:spcBef>
              <a:buChar char="•"/>
              <a:tabLst>
                <a:tab pos="200660" algn="l"/>
                <a:tab pos="371475" algn="l"/>
              </a:tabLst>
            </a:pPr>
            <a:r>
              <a:rPr lang="en-US" altLang="en-US" sz="2500">
                <a:latin typeface="Times New Roman" panose="02020603050405020304" charset="0"/>
                <a:cs typeface="Times New Roman" panose="02020603050405020304" charset="0"/>
              </a:rPr>
              <a:t>Understand the concept of Finite Automata.</a:t>
            </a:r>
            <a:endParaRPr lang="en-US" altLang="en-US" sz="2500">
              <a:latin typeface="Times New Roman" panose="02020603050405020304" charset="0"/>
              <a:cs typeface="Times New Roman" panose="02020603050405020304" charset="0"/>
            </a:endParaRPr>
          </a:p>
          <a:p>
            <a:pPr marL="200660" marR="2063750" indent="-187960">
              <a:lnSpc>
                <a:spcPct val="149000"/>
              </a:lnSpc>
              <a:spcBef>
                <a:spcPts val="100"/>
              </a:spcBef>
              <a:buChar char="•"/>
              <a:tabLst>
                <a:tab pos="200660" algn="l"/>
                <a:tab pos="371475" algn="l"/>
              </a:tabLst>
            </a:pPr>
            <a:r>
              <a:rPr lang="en-US" altLang="en-US" sz="2500">
                <a:latin typeface="Times New Roman" panose="02020603050405020304" charset="0"/>
                <a:cs typeface="Times New Roman" panose="02020603050405020304" charset="0"/>
              </a:rPr>
              <a:t>Study Deterministic and Non-Deterministic Finite Automata.</a:t>
            </a:r>
            <a:endParaRPr lang="en-US" altLang="en-US" sz="2500">
              <a:latin typeface="Times New Roman" panose="02020603050405020304" charset="0"/>
              <a:cs typeface="Times New Roman" panose="02020603050405020304" charset="0"/>
            </a:endParaRPr>
          </a:p>
          <a:p>
            <a:pPr marL="200660" marR="2063750" indent="-187960">
              <a:lnSpc>
                <a:spcPct val="149000"/>
              </a:lnSpc>
              <a:spcBef>
                <a:spcPts val="100"/>
              </a:spcBef>
              <a:buChar char="•"/>
              <a:tabLst>
                <a:tab pos="200660" algn="l"/>
                <a:tab pos="371475" algn="l"/>
              </a:tabLst>
            </a:pPr>
            <a:r>
              <a:rPr lang="en-US" altLang="en-US" sz="2500">
                <a:latin typeface="Times New Roman" panose="02020603050405020304" charset="0"/>
                <a:cs typeface="Times New Roman" panose="02020603050405020304" charset="0"/>
              </a:rPr>
              <a:t>Learn the conversion of NFA to DFA.</a:t>
            </a:r>
            <a:endParaRPr lang="en-US" altLang="en-US" sz="2500">
              <a:latin typeface="Times New Roman" panose="02020603050405020304" charset="0"/>
              <a:cs typeface="Times New Roman" panose="02020603050405020304" charset="0"/>
            </a:endParaRPr>
          </a:p>
          <a:p>
            <a:pPr marL="200660" marR="2063750" indent="-187960">
              <a:lnSpc>
                <a:spcPct val="149000"/>
              </a:lnSpc>
              <a:spcBef>
                <a:spcPts val="100"/>
              </a:spcBef>
              <a:buChar char="•"/>
              <a:tabLst>
                <a:tab pos="200660" algn="l"/>
                <a:tab pos="371475" algn="l"/>
              </a:tabLst>
            </a:pPr>
            <a:r>
              <a:rPr lang="en-US" altLang="en-US" sz="2500">
                <a:latin typeface="Times New Roman" panose="02020603050405020304" charset="0"/>
                <a:cs typeface="Times New Roman" panose="02020603050405020304" charset="0"/>
              </a:rPr>
              <a:t>Understand ε-transitions and ε-closure.</a:t>
            </a:r>
            <a:endParaRPr lang="en-US" altLang="en-US" sz="2500">
              <a:latin typeface="Times New Roman" panose="02020603050405020304" charset="0"/>
              <a:cs typeface="Times New Roman" panose="02020603050405020304" charset="0"/>
            </a:endParaRPr>
          </a:p>
          <a:p>
            <a:pPr marL="200660" marR="2063750" indent="-187960">
              <a:lnSpc>
                <a:spcPct val="149000"/>
              </a:lnSpc>
              <a:spcBef>
                <a:spcPts val="100"/>
              </a:spcBef>
              <a:buChar char="•"/>
              <a:tabLst>
                <a:tab pos="200660" algn="l"/>
                <a:tab pos="371475" algn="l"/>
              </a:tabLst>
            </a:pPr>
            <a:r>
              <a:rPr lang="en-US" altLang="en-US" sz="2500">
                <a:latin typeface="Times New Roman" panose="02020603050405020304" charset="0"/>
                <a:cs typeface="Times New Roman" panose="02020603050405020304" charset="0"/>
              </a:rPr>
              <a:t>Apply Mathematical Induction to prove properties.</a:t>
            </a:r>
            <a:endParaRPr lang="en-US" altLang="en-US" sz="2500">
              <a:latin typeface="Times New Roman" panose="02020603050405020304" charset="0"/>
              <a:cs typeface="Times New Roman" panose="02020603050405020304" charset="0"/>
            </a:endParaRPr>
          </a:p>
          <a:p>
            <a:pPr marL="200660" marR="2063750" indent="-187960">
              <a:lnSpc>
                <a:spcPct val="149000"/>
              </a:lnSpc>
              <a:spcBef>
                <a:spcPts val="100"/>
              </a:spcBef>
              <a:buChar char="•"/>
              <a:tabLst>
                <a:tab pos="200660" algn="l"/>
                <a:tab pos="371475" algn="l"/>
              </a:tabLst>
            </a:pPr>
            <a:r>
              <a:rPr lang="en-US" altLang="en-US" sz="2500">
                <a:latin typeface="Times New Roman" panose="02020603050405020304" charset="0"/>
                <a:cs typeface="Times New Roman" panose="02020603050405020304" charset="0"/>
              </a:rPr>
              <a:t>Explore real-world applications of automata.</a:t>
            </a:r>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229" dirty="0"/>
              <a:t>Proposed</a:t>
            </a:r>
            <a:r>
              <a:rPr spc="50" dirty="0"/>
              <a:t> </a:t>
            </a:r>
            <a:r>
              <a:rPr spc="120" dirty="0"/>
              <a:t>System</a:t>
            </a:r>
            <a:endParaRPr spc="120" dirty="0"/>
          </a:p>
        </p:txBody>
      </p:sp>
      <p:pic>
        <p:nvPicPr>
          <p:cNvPr id="3" name="object 3"/>
          <p:cNvPicPr/>
          <p:nvPr/>
        </p:nvPicPr>
        <p:blipFill>
          <a:blip r:embed="rId1" cstate="print"/>
          <a:stretch>
            <a:fillRect/>
          </a:stretch>
        </p:blipFill>
        <p:spPr>
          <a:xfrm>
            <a:off x="356979" y="191426"/>
            <a:ext cx="1102436" cy="1341485"/>
          </a:xfrm>
          <a:prstGeom prst="rect">
            <a:avLst/>
          </a:prstGeom>
        </p:spPr>
      </p:pic>
      <p:pic>
        <p:nvPicPr>
          <p:cNvPr id="4" name="object 4"/>
          <p:cNvPicPr/>
          <p:nvPr/>
        </p:nvPicPr>
        <p:blipFill>
          <a:blip r:embed="rId2" cstate="print"/>
          <a:stretch>
            <a:fillRect/>
          </a:stretch>
        </p:blipFill>
        <p:spPr>
          <a:xfrm>
            <a:off x="10503279" y="191426"/>
            <a:ext cx="1518530" cy="1341485"/>
          </a:xfrm>
          <a:prstGeom prst="rect">
            <a:avLst/>
          </a:prstGeom>
        </p:spPr>
      </p:pic>
      <p:sp>
        <p:nvSpPr>
          <p:cNvPr id="5" name="object 5"/>
          <p:cNvSpPr txBox="1"/>
          <p:nvPr/>
        </p:nvSpPr>
        <p:spPr>
          <a:xfrm>
            <a:off x="908040" y="2438120"/>
            <a:ext cx="10113645" cy="1857375"/>
          </a:xfrm>
          <a:prstGeom prst="rect">
            <a:avLst/>
          </a:prstGeom>
        </p:spPr>
        <p:txBody>
          <a:bodyPr vert="horz" wrap="square" lIns="0" tIns="10795" rIns="0" bIns="0" rtlCol="0">
            <a:spAutoFit/>
          </a:bodyPr>
          <a:lstStyle/>
          <a:p>
            <a:pPr marL="200660" marR="356235" indent="-187960">
              <a:lnSpc>
                <a:spcPct val="120000"/>
              </a:lnSpc>
              <a:spcBef>
                <a:spcPts val="85"/>
              </a:spcBef>
              <a:buChar char="•"/>
              <a:tabLst>
                <a:tab pos="200660" algn="l"/>
                <a:tab pos="371475" algn="l"/>
              </a:tabLst>
            </a:pPr>
            <a:r>
              <a:rPr lang="en-US" altLang="en-US" sz="2500">
                <a:latin typeface="Times New Roman" panose="02020603050405020304" charset="0"/>
                <a:cs typeface="Times New Roman" panose="02020603050405020304" charset="0"/>
              </a:rPr>
              <a:t>The proposed system combines the concepts of DFA, NFA, ε-NFA, and Mathematical Induction into a unified approach. It demonstrates the conversion techniques, proofs, and practical applications using examples, making Automata Theory easier to understand and implement.</a:t>
            </a:r>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773430">
              <a:lnSpc>
                <a:spcPct val="100000"/>
              </a:lnSpc>
              <a:spcBef>
                <a:spcPts val="95"/>
              </a:spcBef>
            </a:pPr>
            <a:r>
              <a:rPr spc="225" dirty="0"/>
              <a:t>Advantages</a:t>
            </a:r>
            <a:endParaRPr spc="225" dirty="0"/>
          </a:p>
        </p:txBody>
      </p:sp>
      <p:pic>
        <p:nvPicPr>
          <p:cNvPr id="3" name="object 3"/>
          <p:cNvPicPr/>
          <p:nvPr/>
        </p:nvPicPr>
        <p:blipFill>
          <a:blip r:embed="rId1" cstate="print"/>
          <a:stretch>
            <a:fillRect/>
          </a:stretch>
        </p:blipFill>
        <p:spPr>
          <a:xfrm>
            <a:off x="356979" y="191426"/>
            <a:ext cx="1102436" cy="1341485"/>
          </a:xfrm>
          <a:prstGeom prst="rect">
            <a:avLst/>
          </a:prstGeom>
        </p:spPr>
      </p:pic>
      <p:pic>
        <p:nvPicPr>
          <p:cNvPr id="4" name="object 4"/>
          <p:cNvPicPr/>
          <p:nvPr/>
        </p:nvPicPr>
        <p:blipFill>
          <a:blip r:embed="rId2" cstate="print"/>
          <a:stretch>
            <a:fillRect/>
          </a:stretch>
        </p:blipFill>
        <p:spPr>
          <a:xfrm>
            <a:off x="10503279" y="191426"/>
            <a:ext cx="1518530" cy="1341485"/>
          </a:xfrm>
          <a:prstGeom prst="rect">
            <a:avLst/>
          </a:prstGeom>
        </p:spPr>
      </p:pic>
      <p:sp>
        <p:nvSpPr>
          <p:cNvPr id="5" name="object 5"/>
          <p:cNvSpPr txBox="1"/>
          <p:nvPr/>
        </p:nvSpPr>
        <p:spPr>
          <a:xfrm>
            <a:off x="761533" y="1695758"/>
            <a:ext cx="9866630" cy="4270375"/>
          </a:xfrm>
          <a:prstGeom prst="rect">
            <a:avLst/>
          </a:prstGeom>
        </p:spPr>
        <p:txBody>
          <a:bodyPr vert="horz" wrap="square" lIns="0" tIns="223520" rIns="0" bIns="0" rtlCol="0">
            <a:spAutoFit/>
          </a:bodyPr>
          <a:lstStyle/>
          <a:p>
            <a:pPr marL="371475" indent="-358775">
              <a:lnSpc>
                <a:spcPct val="100000"/>
              </a:lnSpc>
              <a:spcBef>
                <a:spcPts val="1760"/>
              </a:spcBef>
              <a:buChar char="•"/>
              <a:tabLst>
                <a:tab pos="371475" algn="l"/>
              </a:tabLst>
            </a:pPr>
            <a:r>
              <a:rPr lang="en-US" altLang="en-US" sz="2500">
                <a:latin typeface="Times New Roman" panose="02020603050405020304" charset="0"/>
                <a:cs typeface="Times New Roman" panose="02020603050405020304" charset="0"/>
              </a:rPr>
              <a:t>Simple computation model</a:t>
            </a:r>
            <a:endParaRPr lang="en-US" altLang="en-US" sz="2500">
              <a:latin typeface="Times New Roman" panose="02020603050405020304" charset="0"/>
              <a:cs typeface="Times New Roman" panose="02020603050405020304" charset="0"/>
            </a:endParaRPr>
          </a:p>
          <a:p>
            <a:pPr marL="371475" indent="-358775">
              <a:lnSpc>
                <a:spcPct val="100000"/>
              </a:lnSpc>
              <a:spcBef>
                <a:spcPts val="1760"/>
              </a:spcBef>
              <a:buChar char="•"/>
              <a:tabLst>
                <a:tab pos="371475" algn="l"/>
              </a:tabLst>
            </a:pPr>
            <a:r>
              <a:rPr lang="en-US" altLang="en-US" sz="2500">
                <a:latin typeface="Times New Roman" panose="02020603050405020304" charset="0"/>
                <a:cs typeface="Times New Roman" panose="02020603050405020304" charset="0"/>
              </a:rPr>
              <a:t>Faster pattern recognition</a:t>
            </a:r>
            <a:endParaRPr lang="en-US" altLang="en-US" sz="2500">
              <a:latin typeface="Times New Roman" panose="02020603050405020304" charset="0"/>
              <a:cs typeface="Times New Roman" panose="02020603050405020304" charset="0"/>
            </a:endParaRPr>
          </a:p>
          <a:p>
            <a:pPr marL="371475" indent="-358775">
              <a:lnSpc>
                <a:spcPct val="100000"/>
              </a:lnSpc>
              <a:spcBef>
                <a:spcPts val="1760"/>
              </a:spcBef>
              <a:buChar char="•"/>
              <a:tabLst>
                <a:tab pos="371475" algn="l"/>
              </a:tabLst>
            </a:pPr>
            <a:r>
              <a:rPr lang="en-US" altLang="en-US" sz="2500">
                <a:latin typeface="Times New Roman" panose="02020603050405020304" charset="0"/>
                <a:cs typeface="Times New Roman" panose="02020603050405020304" charset="0"/>
              </a:rPr>
              <a:t>Easy compiler implementation</a:t>
            </a:r>
            <a:endParaRPr lang="en-US" altLang="en-US" sz="2500">
              <a:latin typeface="Times New Roman" panose="02020603050405020304" charset="0"/>
              <a:cs typeface="Times New Roman" panose="02020603050405020304" charset="0"/>
            </a:endParaRPr>
          </a:p>
          <a:p>
            <a:pPr marL="371475" indent="-358775">
              <a:lnSpc>
                <a:spcPct val="100000"/>
              </a:lnSpc>
              <a:spcBef>
                <a:spcPts val="1760"/>
              </a:spcBef>
              <a:buChar char="•"/>
              <a:tabLst>
                <a:tab pos="371475" algn="l"/>
              </a:tabLst>
            </a:pPr>
            <a:r>
              <a:rPr lang="en-US" altLang="en-US" sz="2500">
                <a:latin typeface="Times New Roman" panose="02020603050405020304" charset="0"/>
                <a:cs typeface="Times New Roman" panose="02020603050405020304" charset="0"/>
              </a:rPr>
              <a:t>Reduces ambiguity</a:t>
            </a:r>
            <a:endParaRPr lang="en-US" altLang="en-US" sz="2500">
              <a:latin typeface="Times New Roman" panose="02020603050405020304" charset="0"/>
              <a:cs typeface="Times New Roman" panose="02020603050405020304" charset="0"/>
            </a:endParaRPr>
          </a:p>
          <a:p>
            <a:pPr marL="371475" indent="-358775">
              <a:lnSpc>
                <a:spcPct val="100000"/>
              </a:lnSpc>
              <a:spcBef>
                <a:spcPts val="1760"/>
              </a:spcBef>
              <a:buChar char="•"/>
              <a:tabLst>
                <a:tab pos="371475" algn="l"/>
              </a:tabLst>
            </a:pPr>
            <a:r>
              <a:rPr lang="en-US" altLang="en-US" sz="2500">
                <a:latin typeface="Times New Roman" panose="02020603050405020304" charset="0"/>
                <a:cs typeface="Times New Roman" panose="02020603050405020304" charset="0"/>
              </a:rPr>
              <a:t>Improves computational efficiency</a:t>
            </a:r>
            <a:endParaRPr lang="en-US" altLang="en-US" sz="2500">
              <a:latin typeface="Times New Roman" panose="02020603050405020304" charset="0"/>
              <a:cs typeface="Times New Roman" panose="02020603050405020304" charset="0"/>
            </a:endParaRPr>
          </a:p>
          <a:p>
            <a:pPr marL="371475" indent="-358775">
              <a:lnSpc>
                <a:spcPct val="100000"/>
              </a:lnSpc>
              <a:spcBef>
                <a:spcPts val="1760"/>
              </a:spcBef>
              <a:buChar char="•"/>
              <a:tabLst>
                <a:tab pos="371475" algn="l"/>
              </a:tabLst>
            </a:pPr>
            <a:r>
              <a:rPr lang="en-US" altLang="en-US" sz="2500">
                <a:latin typeface="Times New Roman" panose="02020603050405020304" charset="0"/>
                <a:cs typeface="Times New Roman" panose="02020603050405020304" charset="0"/>
              </a:rPr>
              <a:t>Strong mathematical foundation</a:t>
            </a:r>
            <a:endParaRPr lang="en-US" altLang="en-US" sz="2500">
              <a:latin typeface="Times New Roman" panose="02020603050405020304" charset="0"/>
              <a:cs typeface="Times New Roman" panose="02020603050405020304" charset="0"/>
            </a:endParaRPr>
          </a:p>
          <a:p>
            <a:pPr marL="371475" indent="-358775">
              <a:lnSpc>
                <a:spcPct val="100000"/>
              </a:lnSpc>
              <a:spcBef>
                <a:spcPts val="1760"/>
              </a:spcBef>
              <a:buChar char="•"/>
              <a:tabLst>
                <a:tab pos="371475" algn="l"/>
              </a:tabLst>
            </a:pPr>
            <a:r>
              <a:rPr lang="en-US" altLang="en-US" sz="2500">
                <a:latin typeface="Times New Roman" panose="02020603050405020304" charset="0"/>
                <a:cs typeface="Times New Roman" panose="02020603050405020304" charset="0"/>
              </a:rPr>
              <a:t>Widely used in software development</a:t>
            </a:r>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090035" y="271780"/>
            <a:ext cx="4909185" cy="621030"/>
          </a:xfrm>
          <a:prstGeom prst="rect">
            <a:avLst/>
          </a:prstGeom>
        </p:spPr>
        <p:txBody>
          <a:bodyPr vert="horz" wrap="square" lIns="0" tIns="13335" rIns="0" bIns="0" rtlCol="0">
            <a:spAutoFit/>
          </a:bodyPr>
          <a:lstStyle/>
          <a:p>
            <a:pPr marL="12700">
              <a:lnSpc>
                <a:spcPct val="100000"/>
              </a:lnSpc>
              <a:spcBef>
                <a:spcPts val="105"/>
              </a:spcBef>
            </a:pPr>
            <a:r>
              <a:rPr sz="3950" spc="-35" dirty="0">
                <a:latin typeface="Roboto" charset="0"/>
                <a:cs typeface="Roboto" charset="0"/>
              </a:rPr>
              <a:t>Technologies</a:t>
            </a:r>
            <a:r>
              <a:rPr sz="3950" spc="-110" dirty="0">
                <a:latin typeface="Roboto" charset="0"/>
                <a:cs typeface="Roboto" charset="0"/>
              </a:rPr>
              <a:t> </a:t>
            </a:r>
            <a:r>
              <a:rPr sz="3950" spc="-20" dirty="0">
                <a:latin typeface="Roboto" charset="0"/>
                <a:cs typeface="Roboto" charset="0"/>
              </a:rPr>
              <a:t>used</a:t>
            </a:r>
            <a:endParaRPr sz="3950">
              <a:latin typeface="Roboto" charset="0"/>
              <a:cs typeface="Roboto" charset="0"/>
            </a:endParaRPr>
          </a:p>
        </p:txBody>
      </p:sp>
      <p:pic>
        <p:nvPicPr>
          <p:cNvPr id="3" name="object 3"/>
          <p:cNvPicPr/>
          <p:nvPr/>
        </p:nvPicPr>
        <p:blipFill>
          <a:blip r:embed="rId1" cstate="print"/>
          <a:stretch>
            <a:fillRect/>
          </a:stretch>
        </p:blipFill>
        <p:spPr>
          <a:xfrm>
            <a:off x="356979" y="191426"/>
            <a:ext cx="1102436" cy="1341485"/>
          </a:xfrm>
          <a:prstGeom prst="rect">
            <a:avLst/>
          </a:prstGeom>
        </p:spPr>
      </p:pic>
      <p:pic>
        <p:nvPicPr>
          <p:cNvPr id="4" name="object 4"/>
          <p:cNvPicPr/>
          <p:nvPr/>
        </p:nvPicPr>
        <p:blipFill>
          <a:blip r:embed="rId2" cstate="print"/>
          <a:stretch>
            <a:fillRect/>
          </a:stretch>
        </p:blipFill>
        <p:spPr>
          <a:xfrm>
            <a:off x="10503279" y="191426"/>
            <a:ext cx="1518530" cy="1341485"/>
          </a:xfrm>
          <a:prstGeom prst="rect">
            <a:avLst/>
          </a:prstGeom>
        </p:spPr>
      </p:pic>
      <p:sp>
        <p:nvSpPr>
          <p:cNvPr id="6" name="Text Box 5"/>
          <p:cNvSpPr txBox="1"/>
          <p:nvPr/>
        </p:nvSpPr>
        <p:spPr>
          <a:xfrm>
            <a:off x="755650" y="2057400"/>
            <a:ext cx="10906125" cy="3315970"/>
          </a:xfrm>
          <a:prstGeom prst="rect">
            <a:avLst/>
          </a:prstGeom>
        </p:spPr>
        <p:txBody>
          <a:bodyPr wrap="square">
            <a:noAutofit/>
          </a:bodyPr>
          <a:p>
            <a:pPr marL="342900" indent="-342900">
              <a:buFont typeface="Arial" panose="020B0604020202020204" pitchFamily="34" charset="0"/>
              <a:buChar char="•"/>
            </a:pPr>
            <a:r>
              <a:rPr lang="en-US" altLang="en-US" sz="2500">
                <a:latin typeface="Times New Roman" panose="02020603050405020304" charset="0"/>
                <a:cs typeface="Times New Roman" panose="02020603050405020304" charset="0"/>
              </a:rPr>
              <a:t>Theory of Computation</a:t>
            </a:r>
            <a:endParaRPr lang="en-US" altLang="en-US" sz="25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500">
                <a:latin typeface="Times New Roman" panose="02020603050405020304" charset="0"/>
                <a:cs typeface="Times New Roman" panose="02020603050405020304" charset="0"/>
              </a:rPr>
              <a:t>Finite Automata</a:t>
            </a:r>
            <a:endParaRPr lang="en-US" altLang="en-US" sz="25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500">
                <a:latin typeface="Times New Roman" panose="02020603050405020304" charset="0"/>
                <a:cs typeface="Times New Roman" panose="02020603050405020304" charset="0"/>
              </a:rPr>
              <a:t>DFA</a:t>
            </a:r>
            <a:endParaRPr lang="en-US" altLang="en-US" sz="25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500">
                <a:latin typeface="Times New Roman" panose="02020603050405020304" charset="0"/>
                <a:cs typeface="Times New Roman" panose="02020603050405020304" charset="0"/>
              </a:rPr>
              <a:t>NFA</a:t>
            </a:r>
            <a:endParaRPr lang="en-US" altLang="en-US" sz="25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500">
                <a:latin typeface="Times New Roman" panose="02020603050405020304" charset="0"/>
                <a:cs typeface="Times New Roman" panose="02020603050405020304" charset="0"/>
              </a:rPr>
              <a:t>ε-NFA</a:t>
            </a:r>
            <a:endParaRPr lang="en-US" altLang="en-US" sz="25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500">
                <a:latin typeface="Times New Roman" panose="02020603050405020304" charset="0"/>
                <a:cs typeface="Times New Roman" panose="02020603050405020304" charset="0"/>
              </a:rPr>
              <a:t>Mathematical Induction</a:t>
            </a:r>
            <a:endParaRPr lang="en-US" altLang="en-US" sz="25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500">
                <a:latin typeface="Times New Roman" panose="02020603050405020304" charset="0"/>
                <a:cs typeface="Times New Roman" panose="02020603050405020304" charset="0"/>
              </a:rPr>
              <a:t>State Transition Diagrams</a:t>
            </a:r>
            <a:endParaRPr lang="en-US" altLang="en-US" sz="25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500">
                <a:latin typeface="Times New Roman" panose="02020603050405020304" charset="0"/>
                <a:cs typeface="Times New Roman" panose="02020603050405020304" charset="0"/>
              </a:rPr>
              <a:t>Transition Table</a:t>
            </a:r>
            <a:r>
              <a:rPr lang="en-IN" altLang="en-US" sz="2500">
                <a:latin typeface="Times New Roman" panose="02020603050405020304" charset="0"/>
                <a:cs typeface="Times New Roman" panose="02020603050405020304" charset="0"/>
              </a:rPr>
              <a:t>s</a:t>
            </a:r>
            <a:endParaRPr lang="en-IN" altLang="en-US" sz="2500">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746250" y="191135"/>
            <a:ext cx="8658225" cy="1560195"/>
          </a:xfrm>
          <a:prstGeom prst="rect">
            <a:avLst/>
          </a:prstGeom>
        </p:spPr>
        <p:txBody>
          <a:bodyPr vert="horz" wrap="square" lIns="0" tIns="12065" rIns="0" bIns="0" rtlCol="0">
            <a:spAutoFit/>
          </a:bodyPr>
          <a:lstStyle/>
          <a:p>
            <a:pPr marL="5080" algn="ctr">
              <a:lnSpc>
                <a:spcPct val="100000"/>
              </a:lnSpc>
              <a:spcBef>
                <a:spcPts val="95"/>
              </a:spcBef>
            </a:pPr>
            <a:r>
              <a:rPr sz="3600" spc="245" dirty="0"/>
              <a:t>Module</a:t>
            </a:r>
            <a:r>
              <a:rPr sz="3600" spc="60" dirty="0"/>
              <a:t> </a:t>
            </a:r>
            <a:r>
              <a:rPr sz="3600" spc="-50" dirty="0"/>
              <a:t>1</a:t>
            </a:r>
            <a:br>
              <a:rPr sz="3600" spc="-50" dirty="0"/>
            </a:br>
            <a:r>
              <a:rPr lang="en-US" altLang="en-US" sz="3600">
                <a:latin typeface="Times New Roman" panose="02020603050405020304" charset="0"/>
                <a:cs typeface="Times New Roman" panose="02020603050405020304" charset="0"/>
                <a:sym typeface="+mn-ea"/>
              </a:rPr>
              <a:t>Module 1: NFA to DFA Conversion</a:t>
            </a:r>
            <a:endParaRPr sz="3600"/>
          </a:p>
          <a:p>
            <a:pPr algn="ctr">
              <a:lnSpc>
                <a:spcPct val="100000"/>
              </a:lnSpc>
              <a:spcBef>
                <a:spcPts val="75"/>
              </a:spcBef>
            </a:pPr>
            <a:endParaRPr lang="en-US" altLang="en-US" sz="2800"/>
          </a:p>
        </p:txBody>
      </p:sp>
      <p:pic>
        <p:nvPicPr>
          <p:cNvPr id="3" name="object 3"/>
          <p:cNvPicPr/>
          <p:nvPr/>
        </p:nvPicPr>
        <p:blipFill>
          <a:blip r:embed="rId1" cstate="print"/>
          <a:stretch>
            <a:fillRect/>
          </a:stretch>
        </p:blipFill>
        <p:spPr>
          <a:xfrm>
            <a:off x="356979" y="191426"/>
            <a:ext cx="1102436" cy="1341485"/>
          </a:xfrm>
          <a:prstGeom prst="rect">
            <a:avLst/>
          </a:prstGeom>
        </p:spPr>
      </p:pic>
      <p:pic>
        <p:nvPicPr>
          <p:cNvPr id="4" name="object 4"/>
          <p:cNvPicPr/>
          <p:nvPr/>
        </p:nvPicPr>
        <p:blipFill>
          <a:blip r:embed="rId2" cstate="print"/>
          <a:stretch>
            <a:fillRect/>
          </a:stretch>
        </p:blipFill>
        <p:spPr>
          <a:xfrm>
            <a:off x="10503279" y="191426"/>
            <a:ext cx="1518530" cy="1341485"/>
          </a:xfrm>
          <a:prstGeom prst="rect">
            <a:avLst/>
          </a:prstGeom>
        </p:spPr>
      </p:pic>
      <p:sp>
        <p:nvSpPr>
          <p:cNvPr id="5" name="object 5"/>
          <p:cNvSpPr txBox="1"/>
          <p:nvPr/>
        </p:nvSpPr>
        <p:spPr>
          <a:xfrm>
            <a:off x="198755" y="1600200"/>
            <a:ext cx="11036300" cy="5224145"/>
          </a:xfrm>
          <a:prstGeom prst="rect">
            <a:avLst/>
          </a:prstGeom>
        </p:spPr>
        <p:txBody>
          <a:bodyPr vert="horz" wrap="square" lIns="0" tIns="12700" rIns="0" bIns="0" rtlCol="0">
            <a:noAutofit/>
          </a:bodyPr>
          <a:lstStyle/>
          <a:p>
            <a:pPr marL="200660" marR="396875" indent="-187960">
              <a:lnSpc>
                <a:spcPct val="149000"/>
              </a:lnSpc>
              <a:spcBef>
                <a:spcPts val="100"/>
              </a:spcBef>
              <a:buChar char="•"/>
              <a:tabLst>
                <a:tab pos="200660" algn="l"/>
                <a:tab pos="371475" algn="l"/>
              </a:tabLst>
            </a:pPr>
            <a:r>
              <a:rPr lang="en-US" altLang="en-US" sz="2500">
                <a:latin typeface="Times New Roman" panose="02020603050405020304" charset="0"/>
                <a:cs typeface="Times New Roman" panose="02020603050405020304" charset="0"/>
              </a:rPr>
              <a:t>NFA (Non-Deterministic Finite Automaton) allows multiple possible next states for a given input.</a:t>
            </a:r>
            <a:endParaRPr lang="en-US" altLang="en-US" sz="2500">
              <a:latin typeface="Times New Roman" panose="02020603050405020304" charset="0"/>
              <a:cs typeface="Times New Roman" panose="02020603050405020304" charset="0"/>
            </a:endParaRPr>
          </a:p>
          <a:p>
            <a:pPr marL="200660" marR="396875" indent="-187960">
              <a:lnSpc>
                <a:spcPct val="149000"/>
              </a:lnSpc>
              <a:spcBef>
                <a:spcPts val="100"/>
              </a:spcBef>
              <a:buChar char="•"/>
              <a:tabLst>
                <a:tab pos="200660" algn="l"/>
                <a:tab pos="371475" algn="l"/>
              </a:tabLst>
            </a:pPr>
            <a:r>
              <a:rPr lang="en-US" altLang="en-US" sz="2500">
                <a:latin typeface="Times New Roman" panose="02020603050405020304" charset="0"/>
                <a:cs typeface="Times New Roman" panose="02020603050405020304" charset="0"/>
              </a:rPr>
              <a:t>A DFA (Deterministic Finite Automaton) has exactly one next state for each input symbol.</a:t>
            </a:r>
            <a:endParaRPr lang="en-US" altLang="en-US" sz="2500">
              <a:latin typeface="Times New Roman" panose="02020603050405020304" charset="0"/>
              <a:cs typeface="Times New Roman" panose="02020603050405020304" charset="0"/>
            </a:endParaRPr>
          </a:p>
          <a:p>
            <a:pPr marL="200660" marR="396875" indent="-187960">
              <a:lnSpc>
                <a:spcPct val="149000"/>
              </a:lnSpc>
              <a:spcBef>
                <a:spcPts val="100"/>
              </a:spcBef>
              <a:buChar char="•"/>
              <a:tabLst>
                <a:tab pos="200660" algn="l"/>
                <a:tab pos="371475" algn="l"/>
              </a:tabLst>
            </a:pPr>
            <a:r>
              <a:rPr lang="en-US" altLang="en-US" sz="2500">
                <a:latin typeface="Times New Roman" panose="02020603050405020304" charset="0"/>
                <a:cs typeface="Times New Roman" panose="02020603050405020304" charset="0"/>
              </a:rPr>
              <a:t>Every NFA can be converted into an equivalent DFA without changing </a:t>
            </a:r>
            <a:endParaRPr lang="en-US" altLang="en-US" sz="2500">
              <a:latin typeface="Times New Roman" panose="02020603050405020304" charset="0"/>
              <a:cs typeface="Times New Roman" panose="02020603050405020304" charset="0"/>
            </a:endParaRPr>
          </a:p>
          <a:p>
            <a:pPr marL="200660" marR="396875" indent="-187960">
              <a:lnSpc>
                <a:spcPct val="149000"/>
              </a:lnSpc>
              <a:spcBef>
                <a:spcPts val="100"/>
              </a:spcBef>
              <a:buChar char="•"/>
              <a:tabLst>
                <a:tab pos="200660" algn="l"/>
                <a:tab pos="371475" algn="l"/>
              </a:tabLst>
            </a:pPr>
            <a:r>
              <a:rPr lang="en-US" altLang="en-US" sz="2500">
                <a:latin typeface="Times New Roman" panose="02020603050405020304" charset="0"/>
                <a:cs typeface="Times New Roman" panose="02020603050405020304" charset="0"/>
              </a:rPr>
              <a:t>The Subset Construction Method is used to perform the conversion.</a:t>
            </a:r>
            <a:endParaRPr lang="en-US" altLang="en-US" sz="2500">
              <a:latin typeface="Times New Roman" panose="02020603050405020304" charset="0"/>
              <a:cs typeface="Times New Roman" panose="02020603050405020304" charset="0"/>
            </a:endParaRPr>
          </a:p>
          <a:p>
            <a:pPr marL="200660" marR="396875" indent="-187960">
              <a:lnSpc>
                <a:spcPct val="149000"/>
              </a:lnSpc>
              <a:spcBef>
                <a:spcPts val="100"/>
              </a:spcBef>
              <a:buChar char="•"/>
              <a:tabLst>
                <a:tab pos="200660" algn="l"/>
                <a:tab pos="371475" algn="l"/>
              </a:tabLst>
            </a:pPr>
            <a:r>
              <a:rPr lang="en-US" altLang="en-US" sz="2500">
                <a:latin typeface="Times New Roman" panose="02020603050405020304" charset="0"/>
                <a:cs typeface="Times New Roman" panose="02020603050405020304" charset="0"/>
              </a:rPr>
              <a:t>Each DFA state represents a set of NFA states.</a:t>
            </a:r>
            <a:endParaRPr lang="en-US" altLang="en-US" sz="2500">
              <a:latin typeface="Times New Roman" panose="02020603050405020304" charset="0"/>
              <a:cs typeface="Times New Roman" panose="02020603050405020304" charset="0"/>
            </a:endParaRPr>
          </a:p>
          <a:p>
            <a:pPr marL="200660" marR="396875" indent="-187960">
              <a:lnSpc>
                <a:spcPct val="149000"/>
              </a:lnSpc>
              <a:spcBef>
                <a:spcPts val="100"/>
              </a:spcBef>
              <a:buChar char="•"/>
              <a:tabLst>
                <a:tab pos="200660" algn="l"/>
                <a:tab pos="371475" algn="l"/>
              </a:tabLst>
            </a:pPr>
            <a:r>
              <a:rPr lang="en-US" altLang="en-US" sz="2500">
                <a:latin typeface="Times New Roman" panose="02020603050405020304" charset="0"/>
                <a:cs typeface="Times New Roman" panose="02020603050405020304" charset="0"/>
              </a:rPr>
              <a:t>Real-life Example: ATM transaction validation follows deterministic steps from card insertion to cash withdrawal.</a:t>
            </a:r>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355850" y="380365"/>
            <a:ext cx="8164830" cy="1371600"/>
          </a:xfrm>
        </p:spPr>
        <p:txBody>
          <a:bodyPr wrap="square">
            <a:noAutofit/>
          </a:bodyPr>
          <a:p>
            <a:r>
              <a:rPr lang="en-IN" altLang="en-US"/>
              <a:t>Module 2</a:t>
            </a:r>
            <a:br>
              <a:rPr lang="en-IN" altLang="en-US"/>
            </a:br>
            <a:r>
              <a:rPr lang="en-US" altLang="en-US"/>
              <a:t>Mathematical Induction</a:t>
            </a:r>
            <a:br>
              <a:rPr lang="en-IN" altLang="en-US"/>
            </a:br>
            <a:endParaRPr lang="en-US" altLang="en-US" sz="2500">
              <a:latin typeface="Times New Roman" panose="02020603050405020304" charset="0"/>
              <a:cs typeface="Times New Roman" panose="02020603050405020304" charset="0"/>
            </a:endParaRPr>
          </a:p>
        </p:txBody>
      </p:sp>
      <p:sp>
        <p:nvSpPr>
          <p:cNvPr id="3" name="Text Placeholder 2"/>
          <p:cNvSpPr>
            <a:spLocks noGrp="1"/>
          </p:cNvSpPr>
          <p:nvPr>
            <p:ph type="body" idx="1"/>
          </p:nvPr>
        </p:nvSpPr>
        <p:spPr>
          <a:xfrm>
            <a:off x="703580" y="1751965"/>
            <a:ext cx="10772140" cy="4420870"/>
          </a:xfrm>
        </p:spPr>
        <p:txBody>
          <a:bodyPr>
            <a:noAutofit/>
          </a:bodyPr>
          <a:p>
            <a:pPr marL="342900" indent="-342900">
              <a:lnSpc>
                <a:spcPct val="150000"/>
              </a:lnSpc>
              <a:buFont typeface="Arial" panose="020B0604020202020204" pitchFamily="34" charset="0"/>
              <a:buChar char="•"/>
            </a:pPr>
            <a:r>
              <a:rPr lang="en-US" altLang="en-US" sz="2500" b="0">
                <a:latin typeface="Times New Roman" panose="02020603050405020304" charset="0"/>
                <a:cs typeface="Times New Roman" panose="02020603050405020304" charset="0"/>
              </a:rPr>
              <a:t>Mathematical induction is a proof technique used to verify statements for all positive integers.</a:t>
            </a:r>
            <a:endParaRPr lang="en-US" altLang="en-US" sz="2500" b="0">
              <a:latin typeface="Times New Roman" panose="02020603050405020304" charset="0"/>
              <a:cs typeface="Times New Roman" panose="02020603050405020304" charset="0"/>
            </a:endParaRPr>
          </a:p>
          <a:p>
            <a:pPr marL="342900" indent="-342900">
              <a:lnSpc>
                <a:spcPct val="150000"/>
              </a:lnSpc>
              <a:buFont typeface="Arial" panose="020B0604020202020204" pitchFamily="34" charset="0"/>
              <a:buChar char="•"/>
            </a:pPr>
            <a:r>
              <a:rPr lang="en-US" altLang="en-US" sz="2500" b="0">
                <a:latin typeface="Times New Roman" panose="02020603050405020304" charset="0"/>
                <a:cs typeface="Times New Roman" panose="02020603050405020304" charset="0"/>
              </a:rPr>
              <a:t>It consists of two main steps: Base Case and Induction Step.</a:t>
            </a:r>
            <a:endParaRPr lang="en-US" altLang="en-US" sz="2500" b="0">
              <a:latin typeface="Times New Roman" panose="02020603050405020304" charset="0"/>
              <a:cs typeface="Times New Roman" panose="02020603050405020304" charset="0"/>
            </a:endParaRPr>
          </a:p>
          <a:p>
            <a:pPr marL="342900" indent="-342900">
              <a:lnSpc>
                <a:spcPct val="150000"/>
              </a:lnSpc>
              <a:buFont typeface="Arial" panose="020B0604020202020204" pitchFamily="34" charset="0"/>
              <a:buChar char="•"/>
            </a:pPr>
            <a:r>
              <a:rPr lang="en-US" altLang="en-US" sz="2500" b="0">
                <a:latin typeface="Times New Roman" panose="02020603050405020304" charset="0"/>
                <a:cs typeface="Times New Roman" panose="02020603050405020304" charset="0"/>
              </a:rPr>
              <a:t>The base case verifies that the statement is true for the initial value.</a:t>
            </a:r>
            <a:endParaRPr lang="en-US" altLang="en-US" sz="2500" b="0">
              <a:latin typeface="Times New Roman" panose="02020603050405020304" charset="0"/>
              <a:cs typeface="Times New Roman" panose="02020603050405020304" charset="0"/>
            </a:endParaRPr>
          </a:p>
          <a:p>
            <a:pPr marL="342900" indent="-342900">
              <a:lnSpc>
                <a:spcPct val="150000"/>
              </a:lnSpc>
              <a:buFont typeface="Arial" panose="020B0604020202020204" pitchFamily="34" charset="0"/>
              <a:buChar char="•"/>
            </a:pPr>
            <a:r>
              <a:rPr lang="en-US" altLang="en-US" sz="2500" b="0">
                <a:latin typeface="Times New Roman" panose="02020603050405020304" charset="0"/>
                <a:cs typeface="Times New Roman" panose="02020603050405020304" charset="0"/>
              </a:rPr>
              <a:t>The induction hypothesis assumes the statement is true for a particular value of n.</a:t>
            </a:r>
            <a:endParaRPr lang="en-US" altLang="en-US" sz="2500" b="0">
              <a:latin typeface="Times New Roman" panose="02020603050405020304" charset="0"/>
              <a:cs typeface="Times New Roman" panose="02020603050405020304" charset="0"/>
            </a:endParaRPr>
          </a:p>
          <a:p>
            <a:pPr marL="342900" indent="-342900">
              <a:lnSpc>
                <a:spcPct val="150000"/>
              </a:lnSpc>
              <a:buFont typeface="Arial" panose="020B0604020202020204" pitchFamily="34" charset="0"/>
              <a:buChar char="•"/>
            </a:pPr>
            <a:r>
              <a:rPr lang="en-US" altLang="en-US" sz="2500" b="0">
                <a:latin typeface="Times New Roman" panose="02020603050405020304" charset="0"/>
                <a:cs typeface="Times New Roman" panose="02020603050405020304" charset="0"/>
              </a:rPr>
              <a:t>The induction step proves the statement is true for n+1.</a:t>
            </a:r>
            <a:endParaRPr lang="en-US" altLang="en-US" sz="2500" b="0">
              <a:latin typeface="Times New Roman" panose="02020603050405020304" charset="0"/>
              <a:cs typeface="Times New Roman" panose="02020603050405020304" charset="0"/>
            </a:endParaRPr>
          </a:p>
          <a:p>
            <a:pPr marL="342900" indent="-342900">
              <a:lnSpc>
                <a:spcPct val="150000"/>
              </a:lnSpc>
              <a:buFont typeface="Arial" panose="020B0604020202020204" pitchFamily="34" charset="0"/>
              <a:buChar char="•"/>
            </a:pPr>
            <a:r>
              <a:rPr lang="en-US" altLang="en-US" sz="2500" b="0">
                <a:latin typeface="Times New Roman" panose="02020603050405020304" charset="0"/>
                <a:cs typeface="Times New Roman" panose="02020603050405020304" charset="0"/>
              </a:rPr>
              <a:t>It is widely used to prove properties of strings, languages, and recursive algo</a:t>
            </a:r>
            <a:endParaRPr lang="en-US" altLang="en-US" sz="2500" b="0">
              <a:latin typeface="Times New Roman" panose="02020603050405020304" charset="0"/>
              <a:cs typeface="Times New Roman" panose="02020603050405020304" charset="0"/>
            </a:endParaRPr>
          </a:p>
          <a:p>
            <a:pPr marL="342900" indent="-342900">
              <a:lnSpc>
                <a:spcPct val="150000"/>
              </a:lnSpc>
              <a:buFont typeface="Arial" panose="020B0604020202020204" pitchFamily="34" charset="0"/>
              <a:buChar char="•"/>
            </a:pPr>
            <a:r>
              <a:rPr lang="en-US" altLang="en-US" sz="2500" b="0">
                <a:latin typeface="Times New Roman" panose="02020603050405020304" charset="0"/>
                <a:cs typeface="Times New Roman" panose="02020603050405020304" charset="0"/>
              </a:rPr>
              <a:t>Real-life Example: Proving formulas for the total number of objects arranged in rows.</a:t>
            </a:r>
            <a:endParaRPr lang="en-US" altLang="en-US" sz="2500" b="0">
              <a:latin typeface="Times New Roman" panose="02020603050405020304" charset="0"/>
              <a:cs typeface="Times New Roman" panose="02020603050405020304" charset="0"/>
            </a:endParaRPr>
          </a:p>
        </p:txBody>
      </p:sp>
      <p:pic>
        <p:nvPicPr>
          <p:cNvPr id="4" name="object 3"/>
          <p:cNvPicPr/>
          <p:nvPr/>
        </p:nvPicPr>
        <p:blipFill>
          <a:blip r:embed="rId1" cstate="print"/>
          <a:stretch>
            <a:fillRect/>
          </a:stretch>
        </p:blipFill>
        <p:spPr>
          <a:xfrm>
            <a:off x="356979" y="191426"/>
            <a:ext cx="1102436" cy="1341485"/>
          </a:xfrm>
          <a:prstGeom prst="rect">
            <a:avLst/>
          </a:prstGeom>
        </p:spPr>
      </p:pic>
      <p:pic>
        <p:nvPicPr>
          <p:cNvPr id="5" name="object 4"/>
          <p:cNvPicPr/>
          <p:nvPr/>
        </p:nvPicPr>
        <p:blipFill>
          <a:blip r:embed="rId2" cstate="print"/>
          <a:stretch>
            <a:fillRect/>
          </a:stretch>
        </p:blipFill>
        <p:spPr>
          <a:xfrm>
            <a:off x="10503279" y="191426"/>
            <a:ext cx="1518530" cy="13414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51050" y="76200"/>
            <a:ext cx="8378825" cy="1353820"/>
          </a:xfrm>
        </p:spPr>
        <p:txBody>
          <a:bodyPr wrap="square"/>
          <a:p>
            <a:r>
              <a:rPr lang="en-IN" altLang="en-US"/>
              <a:t>Module 3</a:t>
            </a:r>
            <a:br>
              <a:rPr lang="en-IN" altLang="en-US"/>
            </a:br>
            <a:r>
              <a:rPr lang="en-US" altLang="en-US"/>
              <a:t>ε-NFA to NFA Conversion</a:t>
            </a:r>
            <a:endParaRPr lang="en-US" altLang="en-US"/>
          </a:p>
        </p:txBody>
      </p:sp>
      <p:sp>
        <p:nvSpPr>
          <p:cNvPr id="3" name="Text Placeholder 2"/>
          <p:cNvSpPr>
            <a:spLocks noGrp="1"/>
          </p:cNvSpPr>
          <p:nvPr>
            <p:ph type="body" idx="1"/>
          </p:nvPr>
        </p:nvSpPr>
        <p:spPr>
          <a:xfrm>
            <a:off x="603268" y="2057599"/>
            <a:ext cx="10772140" cy="4001135"/>
          </a:xfrm>
        </p:spPr>
        <p:txBody>
          <a:bodyPr/>
          <a:p>
            <a:pPr>
              <a:lnSpc>
                <a:spcPct val="130000"/>
              </a:lnSpc>
            </a:pPr>
            <a:r>
              <a:rPr lang="en-US" altLang="en-US" sz="2500" b="0">
                <a:latin typeface="Times New Roman" panose="02020603050405020304" charset="0"/>
                <a:cs typeface="Times New Roman" panose="02020603050405020304" charset="0"/>
              </a:rPr>
              <a:t>These transitions are called epsilon (ε) transitions.</a:t>
            </a:r>
            <a:endParaRPr lang="en-US" altLang="en-US" sz="2500" b="0">
              <a:latin typeface="Times New Roman" panose="02020603050405020304" charset="0"/>
              <a:cs typeface="Times New Roman" panose="02020603050405020304" charset="0"/>
            </a:endParaRPr>
          </a:p>
          <a:p>
            <a:pPr>
              <a:lnSpc>
                <a:spcPct val="130000"/>
              </a:lnSpc>
            </a:pPr>
            <a:r>
              <a:rPr lang="en-US" altLang="en-US" sz="2500" b="0">
                <a:latin typeface="Times New Roman" panose="02020603050405020304" charset="0"/>
                <a:cs typeface="Times New Roman" panose="02020603050405020304" charset="0"/>
              </a:rPr>
              <a:t>The ε-closure of a state includes all states reachable using only ε-transitions.</a:t>
            </a:r>
            <a:endParaRPr lang="en-US" altLang="en-US" sz="2500" b="0">
              <a:latin typeface="Times New Roman" panose="02020603050405020304" charset="0"/>
              <a:cs typeface="Times New Roman" panose="02020603050405020304" charset="0"/>
            </a:endParaRPr>
          </a:p>
          <a:p>
            <a:pPr>
              <a:lnSpc>
                <a:spcPct val="130000"/>
              </a:lnSpc>
            </a:pPr>
            <a:r>
              <a:rPr lang="en-US" altLang="en-US" sz="2500" b="0">
                <a:latin typeface="Times New Roman" panose="02020603050405020304" charset="0"/>
                <a:cs typeface="Times New Roman" panose="02020603050405020304" charset="0"/>
              </a:rPr>
              <a:t>ε-transitions are removed to obtain an equivalent NFA.</a:t>
            </a:r>
            <a:endParaRPr lang="en-US" altLang="en-US" sz="2500" b="0">
              <a:latin typeface="Times New Roman" panose="02020603050405020304" charset="0"/>
              <a:cs typeface="Times New Roman" panose="02020603050405020304" charset="0"/>
            </a:endParaRPr>
          </a:p>
          <a:p>
            <a:pPr>
              <a:lnSpc>
                <a:spcPct val="130000"/>
              </a:lnSpc>
            </a:pPr>
            <a:r>
              <a:rPr lang="en-US" altLang="en-US" sz="2500" b="0">
                <a:latin typeface="Times New Roman" panose="02020603050405020304" charset="0"/>
                <a:cs typeface="Times New Roman" panose="02020603050405020304" charset="0"/>
              </a:rPr>
              <a:t>The conversion preserves the language accepted by the automaton.</a:t>
            </a:r>
            <a:endParaRPr lang="en-US" altLang="en-US" sz="2500" b="0">
              <a:latin typeface="Times New Roman" panose="02020603050405020304" charset="0"/>
              <a:cs typeface="Times New Roman" panose="02020603050405020304" charset="0"/>
            </a:endParaRPr>
          </a:p>
          <a:p>
            <a:pPr>
              <a:lnSpc>
                <a:spcPct val="130000"/>
              </a:lnSpc>
            </a:pPr>
            <a:r>
              <a:rPr lang="en-US" altLang="en-US" sz="2500" b="0">
                <a:latin typeface="Times New Roman" panose="02020603050405020304" charset="0"/>
                <a:cs typeface="Times New Roman" panose="02020603050405020304" charset="0"/>
              </a:rPr>
              <a:t>Final states are updated based on ε-closures.</a:t>
            </a:r>
            <a:endParaRPr lang="en-US" altLang="en-US" sz="2500" b="0">
              <a:latin typeface="Times New Roman" panose="02020603050405020304" charset="0"/>
              <a:cs typeface="Times New Roman" panose="02020603050405020304" charset="0"/>
            </a:endParaRPr>
          </a:p>
          <a:p>
            <a:pPr>
              <a:lnSpc>
                <a:spcPct val="130000"/>
              </a:lnSpc>
            </a:pPr>
            <a:r>
              <a:rPr lang="en-US" altLang="en-US" sz="2500" b="0">
                <a:latin typeface="Times New Roman" panose="02020603050405020304" charset="0"/>
                <a:cs typeface="Times New Roman" panose="02020603050405020304" charset="0"/>
              </a:rPr>
              <a:t>Removing ε-transitions simplifies automata implementation.</a:t>
            </a:r>
            <a:endParaRPr lang="en-US" altLang="en-US" sz="2500" b="0">
              <a:latin typeface="Times New Roman" panose="02020603050405020304" charset="0"/>
              <a:cs typeface="Times New Roman" panose="02020603050405020304" charset="0"/>
            </a:endParaRPr>
          </a:p>
          <a:p>
            <a:pPr>
              <a:lnSpc>
                <a:spcPct val="130000"/>
              </a:lnSpc>
            </a:pPr>
            <a:r>
              <a:rPr lang="en-US" altLang="en-US" sz="2500" b="0">
                <a:latin typeface="Times New Roman" panose="02020603050405020304" charset="0"/>
                <a:cs typeface="Times New Roman" panose="02020603050405020304" charset="0"/>
              </a:rPr>
              <a:t>ε-NFA to NFA conversion improves computational efficiency.</a:t>
            </a:r>
            <a:endParaRPr lang="en-US" altLang="en-US" sz="2500" b="0">
              <a:latin typeface="Times New Roman" panose="02020603050405020304" charset="0"/>
              <a:cs typeface="Times New Roman" panose="02020603050405020304" charset="0"/>
            </a:endParaRPr>
          </a:p>
          <a:p>
            <a:pPr>
              <a:lnSpc>
                <a:spcPct val="130000"/>
              </a:lnSpc>
            </a:pPr>
            <a:r>
              <a:rPr lang="en-US" altLang="en-US" sz="2500" b="0">
                <a:latin typeface="Times New Roman" panose="02020603050405020304" charset="0"/>
                <a:cs typeface="Times New Roman" panose="02020603050405020304" charset="0"/>
              </a:rPr>
              <a:t>Real-life Example: Online shopping checkout where optional steps can be skipped.</a:t>
            </a:r>
            <a:endParaRPr lang="en-US" altLang="en-US" sz="2500" b="0">
              <a:latin typeface="Times New Roman" panose="02020603050405020304" charset="0"/>
              <a:cs typeface="Times New Roman" panose="02020603050405020304" charset="0"/>
            </a:endParaRPr>
          </a:p>
        </p:txBody>
      </p:sp>
      <p:pic>
        <p:nvPicPr>
          <p:cNvPr id="4" name="object 3"/>
          <p:cNvPicPr/>
          <p:nvPr/>
        </p:nvPicPr>
        <p:blipFill>
          <a:blip r:embed="rId1" cstate="print"/>
          <a:stretch>
            <a:fillRect/>
          </a:stretch>
        </p:blipFill>
        <p:spPr>
          <a:xfrm>
            <a:off x="356979" y="191426"/>
            <a:ext cx="1102436" cy="1341485"/>
          </a:xfrm>
          <a:prstGeom prst="rect">
            <a:avLst/>
          </a:prstGeom>
        </p:spPr>
      </p:pic>
      <p:pic>
        <p:nvPicPr>
          <p:cNvPr id="5" name="object 4"/>
          <p:cNvPicPr/>
          <p:nvPr/>
        </p:nvPicPr>
        <p:blipFill>
          <a:blip r:embed="rId2" cstate="print"/>
          <a:stretch>
            <a:fillRect/>
          </a:stretch>
        </p:blipFill>
        <p:spPr>
          <a:xfrm>
            <a:off x="10503279" y="191426"/>
            <a:ext cx="1518530" cy="13414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65250" y="304800"/>
            <a:ext cx="8756015" cy="1168400"/>
          </a:xfrm>
        </p:spPr>
        <p:txBody>
          <a:bodyPr wrap="square">
            <a:noAutofit/>
          </a:bodyPr>
          <a:p>
            <a:pPr algn="ctr"/>
            <a:r>
              <a:rPr lang="en-IN" altLang="en-US"/>
              <a:t>Module 4</a:t>
            </a:r>
            <a:br>
              <a:rPr lang="en-IN" altLang="en-US"/>
            </a:br>
            <a:r>
              <a:rPr lang="en-US" altLang="en-US"/>
              <a:t>ε-NFA to DFA Construction</a:t>
            </a:r>
            <a:br>
              <a:rPr lang="en-IN" altLang="en-US"/>
            </a:br>
            <a:endParaRPr lang="en-IN" altLang="en-US"/>
          </a:p>
        </p:txBody>
      </p:sp>
      <p:sp>
        <p:nvSpPr>
          <p:cNvPr id="3" name="Text Placeholder 2"/>
          <p:cNvSpPr>
            <a:spLocks noGrp="1"/>
          </p:cNvSpPr>
          <p:nvPr>
            <p:ph type="body" idx="1"/>
          </p:nvPr>
        </p:nvSpPr>
        <p:spPr>
          <a:xfrm>
            <a:off x="679468" y="1606114"/>
            <a:ext cx="10772140" cy="5231765"/>
          </a:xfrm>
        </p:spPr>
        <p:txBody>
          <a:bodyPr/>
          <a:p>
            <a:pPr marL="342900" indent="-342900">
              <a:lnSpc>
                <a:spcPct val="170000"/>
              </a:lnSpc>
              <a:buFont typeface="Arial" panose="020B0604020202020204" pitchFamily="34" charset="0"/>
              <a:buChar char="•"/>
            </a:pPr>
            <a:r>
              <a:rPr lang="en-US" altLang="en-US" sz="2500" b="0">
                <a:latin typeface="Times New Roman" panose="02020603050405020304" charset="0"/>
                <a:cs typeface="Times New Roman" panose="02020603050405020304" charset="0"/>
              </a:rPr>
              <a:t>ε-NFA can be directly converted into an equivalent DFA.</a:t>
            </a:r>
            <a:endParaRPr lang="en-US" altLang="en-US" sz="2500" b="0">
              <a:latin typeface="Times New Roman" panose="02020603050405020304" charset="0"/>
              <a:cs typeface="Times New Roman" panose="02020603050405020304" charset="0"/>
            </a:endParaRPr>
          </a:p>
          <a:p>
            <a:pPr marL="342900" indent="-342900">
              <a:lnSpc>
                <a:spcPct val="170000"/>
              </a:lnSpc>
              <a:buFont typeface="Arial" panose="020B0604020202020204" pitchFamily="34" charset="0"/>
              <a:buChar char="•"/>
            </a:pPr>
            <a:r>
              <a:rPr lang="en-US" altLang="en-US" sz="2500" b="0">
                <a:latin typeface="Times New Roman" panose="02020603050405020304" charset="0"/>
                <a:cs typeface="Times New Roman" panose="02020603050405020304" charset="0"/>
              </a:rPr>
              <a:t>The conversion begins by computing the ε-closure of the initial state.</a:t>
            </a:r>
            <a:endParaRPr lang="en-US" altLang="en-US" sz="2500" b="0">
              <a:latin typeface="Times New Roman" panose="02020603050405020304" charset="0"/>
              <a:cs typeface="Times New Roman" panose="02020603050405020304" charset="0"/>
            </a:endParaRPr>
          </a:p>
          <a:p>
            <a:pPr marL="342900" indent="-342900">
              <a:lnSpc>
                <a:spcPct val="170000"/>
              </a:lnSpc>
              <a:buFont typeface="Arial" panose="020B0604020202020204" pitchFamily="34" charset="0"/>
              <a:buChar char="•"/>
            </a:pPr>
            <a:r>
              <a:rPr lang="en-US" altLang="en-US" sz="2500" b="0">
                <a:latin typeface="Times New Roman" panose="02020603050405020304" charset="0"/>
                <a:cs typeface="Times New Roman" panose="02020603050405020304" charset="0"/>
              </a:rPr>
              <a:t>Subset construction is applied using ε-closures.</a:t>
            </a:r>
            <a:endParaRPr lang="en-US" altLang="en-US" sz="2500" b="0">
              <a:latin typeface="Times New Roman" panose="02020603050405020304" charset="0"/>
              <a:cs typeface="Times New Roman" panose="02020603050405020304" charset="0"/>
            </a:endParaRPr>
          </a:p>
          <a:p>
            <a:pPr marL="342900" indent="-342900">
              <a:lnSpc>
                <a:spcPct val="170000"/>
              </a:lnSpc>
              <a:buFont typeface="Arial" panose="020B0604020202020204" pitchFamily="34" charset="0"/>
              <a:buChar char="•"/>
            </a:pPr>
            <a:r>
              <a:rPr lang="en-US" altLang="en-US" sz="2500" b="0">
                <a:latin typeface="Times New Roman" panose="02020603050405020304" charset="0"/>
                <a:cs typeface="Times New Roman" panose="02020603050405020304" charset="0"/>
              </a:rPr>
              <a:t>The DFA accepts the same language as the original ε-NFA.</a:t>
            </a:r>
            <a:endParaRPr lang="en-US" altLang="en-US" sz="2500" b="0">
              <a:latin typeface="Times New Roman" panose="02020603050405020304" charset="0"/>
              <a:cs typeface="Times New Roman" panose="02020603050405020304" charset="0"/>
            </a:endParaRPr>
          </a:p>
          <a:p>
            <a:pPr marL="342900" indent="-342900">
              <a:lnSpc>
                <a:spcPct val="170000"/>
              </a:lnSpc>
              <a:buFont typeface="Arial" panose="020B0604020202020204" pitchFamily="34" charset="0"/>
              <a:buChar char="•"/>
            </a:pPr>
            <a:r>
              <a:rPr lang="en-US" altLang="en-US" sz="2500" b="0">
                <a:latin typeface="Times New Roman" panose="02020603050405020304" charset="0"/>
                <a:cs typeface="Times New Roman" panose="02020603050405020304" charset="0"/>
              </a:rPr>
              <a:t>This conversion improves execution speed and simplifies implementation.</a:t>
            </a:r>
            <a:endParaRPr lang="en-US" altLang="en-US" sz="2500" b="0">
              <a:latin typeface="Times New Roman" panose="02020603050405020304" charset="0"/>
              <a:cs typeface="Times New Roman" panose="02020603050405020304" charset="0"/>
            </a:endParaRPr>
          </a:p>
          <a:p>
            <a:pPr marL="342900" indent="-342900">
              <a:lnSpc>
                <a:spcPct val="170000"/>
              </a:lnSpc>
              <a:buFont typeface="Arial" panose="020B0604020202020204" pitchFamily="34" charset="0"/>
              <a:buChar char="•"/>
            </a:pPr>
            <a:r>
              <a:rPr lang="en-US" altLang="en-US" sz="2500" b="0">
                <a:latin typeface="Times New Roman" panose="02020603050405020304" charset="0"/>
                <a:cs typeface="Times New Roman" panose="02020603050405020304" charset="0"/>
              </a:rPr>
              <a:t>It is widely used in compiler design, lexical analyzers, and pattern matching.</a:t>
            </a:r>
            <a:endParaRPr lang="en-US" altLang="en-US" sz="2500" b="0">
              <a:latin typeface="Times New Roman" panose="02020603050405020304" charset="0"/>
              <a:cs typeface="Times New Roman" panose="02020603050405020304" charset="0"/>
            </a:endParaRPr>
          </a:p>
          <a:p>
            <a:pPr marL="342900" indent="-342900">
              <a:lnSpc>
                <a:spcPct val="170000"/>
              </a:lnSpc>
              <a:buFont typeface="Arial" panose="020B0604020202020204" pitchFamily="34" charset="0"/>
              <a:buChar char="•"/>
            </a:pPr>
            <a:r>
              <a:rPr lang="en-US" altLang="en-US" sz="2500" b="0">
                <a:latin typeface="Times New Roman" panose="02020603050405020304" charset="0"/>
                <a:cs typeface="Times New Roman" panose="02020603050405020304" charset="0"/>
              </a:rPr>
              <a:t>Real-life Example: Traffic signal control system where each signal change follows a deterministic sequence.</a:t>
            </a:r>
            <a:endParaRPr lang="en-US" altLang="en-US" sz="2500" b="0">
              <a:latin typeface="Times New Roman" panose="02020603050405020304" charset="0"/>
              <a:cs typeface="Times New Roman" panose="02020603050405020304" charset="0"/>
            </a:endParaRPr>
          </a:p>
        </p:txBody>
      </p:sp>
      <p:pic>
        <p:nvPicPr>
          <p:cNvPr id="4" name="object 3"/>
          <p:cNvPicPr/>
          <p:nvPr/>
        </p:nvPicPr>
        <p:blipFill>
          <a:blip r:embed="rId1" cstate="print"/>
          <a:stretch>
            <a:fillRect/>
          </a:stretch>
        </p:blipFill>
        <p:spPr>
          <a:xfrm>
            <a:off x="356979" y="191426"/>
            <a:ext cx="1102436" cy="1341485"/>
          </a:xfrm>
          <a:prstGeom prst="rect">
            <a:avLst/>
          </a:prstGeom>
        </p:spPr>
      </p:pic>
      <p:pic>
        <p:nvPicPr>
          <p:cNvPr id="5" name="object 4"/>
          <p:cNvPicPr/>
          <p:nvPr/>
        </p:nvPicPr>
        <p:blipFill>
          <a:blip r:embed="rId2" cstate="print"/>
          <a:stretch>
            <a:fillRect/>
          </a:stretch>
        </p:blipFill>
        <p:spPr>
          <a:xfrm>
            <a:off x="10503279" y="191426"/>
            <a:ext cx="1518530" cy="134148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554990">
              <a:lnSpc>
                <a:spcPct val="100000"/>
              </a:lnSpc>
              <a:spcBef>
                <a:spcPts val="95"/>
              </a:spcBef>
            </a:pPr>
            <a:r>
              <a:rPr spc="375" dirty="0"/>
              <a:t>Future</a:t>
            </a:r>
            <a:r>
              <a:rPr spc="65" dirty="0"/>
              <a:t> </a:t>
            </a:r>
            <a:r>
              <a:rPr spc="100" dirty="0"/>
              <a:t>Scope</a:t>
            </a:r>
            <a:endParaRPr spc="100" dirty="0"/>
          </a:p>
        </p:txBody>
      </p:sp>
      <p:pic>
        <p:nvPicPr>
          <p:cNvPr id="3" name="object 3"/>
          <p:cNvPicPr/>
          <p:nvPr/>
        </p:nvPicPr>
        <p:blipFill>
          <a:blip r:embed="rId1" cstate="print"/>
          <a:stretch>
            <a:fillRect/>
          </a:stretch>
        </p:blipFill>
        <p:spPr>
          <a:xfrm>
            <a:off x="356979" y="191426"/>
            <a:ext cx="1102436" cy="1341485"/>
          </a:xfrm>
          <a:prstGeom prst="rect">
            <a:avLst/>
          </a:prstGeom>
        </p:spPr>
      </p:pic>
      <p:pic>
        <p:nvPicPr>
          <p:cNvPr id="4" name="object 4"/>
          <p:cNvPicPr/>
          <p:nvPr/>
        </p:nvPicPr>
        <p:blipFill>
          <a:blip r:embed="rId2" cstate="print"/>
          <a:stretch>
            <a:fillRect/>
          </a:stretch>
        </p:blipFill>
        <p:spPr>
          <a:xfrm>
            <a:off x="10503279" y="191426"/>
            <a:ext cx="1518530" cy="1341485"/>
          </a:xfrm>
          <a:prstGeom prst="rect">
            <a:avLst/>
          </a:prstGeom>
        </p:spPr>
      </p:pic>
      <p:sp>
        <p:nvSpPr>
          <p:cNvPr id="5" name="object 5"/>
          <p:cNvSpPr txBox="1"/>
          <p:nvPr/>
        </p:nvSpPr>
        <p:spPr>
          <a:xfrm>
            <a:off x="982158" y="1791843"/>
            <a:ext cx="9243695" cy="5066665"/>
          </a:xfrm>
          <a:prstGeom prst="rect">
            <a:avLst/>
          </a:prstGeom>
        </p:spPr>
        <p:txBody>
          <a:bodyPr vert="horz" wrap="square" lIns="0" tIns="10795" rIns="0" bIns="0" rtlCol="0">
            <a:spAutoFit/>
          </a:bodyPr>
          <a:lstStyle/>
          <a:p>
            <a:pPr marL="511810" marR="5080" indent="-499745">
              <a:lnSpc>
                <a:spcPct val="100000"/>
              </a:lnSpc>
              <a:spcBef>
                <a:spcPts val="85"/>
              </a:spcBef>
              <a:buFont typeface="Calibri" panose="020F0502020204030204"/>
              <a:buAutoNum type="arabicPeriod"/>
              <a:tabLst>
                <a:tab pos="511175" algn="l"/>
              </a:tabLst>
            </a:pPr>
            <a:r>
              <a:rPr lang="en-US" altLang="en-US" sz="2500">
                <a:latin typeface="Times New Roman" panose="02020603050405020304" charset="0"/>
                <a:cs typeface="Times New Roman" panose="02020603050405020304" charset="0"/>
              </a:rPr>
              <a:t>AI-Based Automata Optimization: Use artificial intelligence to optimize state machines and improve computational efficiency.</a:t>
            </a:r>
            <a:endParaRPr lang="en-US" altLang="en-US" sz="2500">
              <a:latin typeface="Times New Roman" panose="02020603050405020304" charset="0"/>
              <a:cs typeface="Times New Roman" panose="02020603050405020304" charset="0"/>
            </a:endParaRPr>
          </a:p>
          <a:p>
            <a:pPr marL="511810" marR="5080" indent="-499745">
              <a:lnSpc>
                <a:spcPct val="100000"/>
              </a:lnSpc>
              <a:spcBef>
                <a:spcPts val="85"/>
              </a:spcBef>
              <a:buFont typeface="Calibri" panose="020F0502020204030204"/>
              <a:buAutoNum type="arabicPeriod"/>
              <a:tabLst>
                <a:tab pos="511175" algn="l"/>
              </a:tabLst>
            </a:pPr>
            <a:r>
              <a:rPr lang="en-US" altLang="en-US" sz="2500">
                <a:latin typeface="Times New Roman" panose="02020603050405020304" charset="0"/>
                <a:cs typeface="Times New Roman" panose="02020603050405020304" charset="0"/>
              </a:rPr>
              <a:t>Quantum Finite Automata: Explore quantum computing techniques to solve complex computational problems more efficiently.</a:t>
            </a:r>
            <a:endParaRPr lang="en-US" altLang="en-US" sz="2500">
              <a:latin typeface="Times New Roman" panose="02020603050405020304" charset="0"/>
              <a:cs typeface="Times New Roman" panose="02020603050405020304" charset="0"/>
            </a:endParaRPr>
          </a:p>
          <a:p>
            <a:pPr marL="511810" marR="5080" indent="-499745">
              <a:lnSpc>
                <a:spcPct val="100000"/>
              </a:lnSpc>
              <a:spcBef>
                <a:spcPts val="85"/>
              </a:spcBef>
              <a:buFont typeface="Calibri" panose="020F0502020204030204"/>
              <a:buAutoNum type="arabicPeriod"/>
              <a:tabLst>
                <a:tab pos="511175" algn="l"/>
              </a:tabLst>
            </a:pPr>
            <a:r>
              <a:rPr lang="en-US" altLang="en-US" sz="2500">
                <a:latin typeface="Times New Roman" panose="02020603050405020304" charset="0"/>
                <a:cs typeface="Times New Roman" panose="02020603050405020304" charset="0"/>
              </a:rPr>
              <a:t>Advanced Compiler Construction: Enhance compiler design with faster lexical analysis, parsing, and code optimization.</a:t>
            </a:r>
            <a:endParaRPr lang="en-US" altLang="en-US" sz="2500">
              <a:latin typeface="Times New Roman" panose="02020603050405020304" charset="0"/>
              <a:cs typeface="Times New Roman" panose="02020603050405020304" charset="0"/>
            </a:endParaRPr>
          </a:p>
          <a:p>
            <a:pPr marL="511810" marR="5080" indent="-499745">
              <a:lnSpc>
                <a:spcPct val="100000"/>
              </a:lnSpc>
              <a:spcBef>
                <a:spcPts val="85"/>
              </a:spcBef>
              <a:buFont typeface="Calibri" panose="020F0502020204030204"/>
              <a:buAutoNum type="arabicPeriod"/>
              <a:tabLst>
                <a:tab pos="511175" algn="l"/>
              </a:tabLst>
            </a:pPr>
            <a:r>
              <a:rPr lang="en-US" altLang="en-US" sz="2500">
                <a:latin typeface="Times New Roman" panose="02020603050405020304" charset="0"/>
                <a:cs typeface="Times New Roman" panose="02020603050405020304" charset="0"/>
              </a:rPr>
              <a:t>Cybersecurity Applications: Apply automata theory in intrusion detection, malware analysis, and secure protocol verification.</a:t>
            </a:r>
            <a:endParaRPr lang="en-US" altLang="en-US" sz="2500">
              <a:latin typeface="Times New Roman" panose="02020603050405020304" charset="0"/>
              <a:cs typeface="Times New Roman" panose="02020603050405020304" charset="0"/>
            </a:endParaRPr>
          </a:p>
          <a:p>
            <a:pPr marL="511810" marR="5080" indent="-499745">
              <a:lnSpc>
                <a:spcPct val="100000"/>
              </a:lnSpc>
              <a:spcBef>
                <a:spcPts val="85"/>
              </a:spcBef>
              <a:buFont typeface="Calibri" panose="020F0502020204030204"/>
              <a:buAutoNum type="arabicPeriod"/>
              <a:tabLst>
                <a:tab pos="511175" algn="l"/>
              </a:tabLst>
            </a:pPr>
            <a:r>
              <a:rPr lang="en-US" altLang="en-US" sz="2500">
                <a:latin typeface="Times New Roman" panose="02020603050405020304" charset="0"/>
                <a:cs typeface="Times New Roman" panose="02020603050405020304" charset="0"/>
              </a:rPr>
              <a:t>Natural Language Processing (NLP): Improve text processing, speech recognition, and language understanding using automata models.</a:t>
            </a:r>
            <a:endParaRPr lang="en-US" altLang="en-US" sz="2500">
              <a:latin typeface="Times New Roman" panose="02020603050405020304" charset="0"/>
              <a:cs typeface="Times New Roman" panose="02020603050405020304" charset="0"/>
            </a:endParaRPr>
          </a:p>
          <a:p>
            <a:pPr marL="511810" marR="5080" indent="-499745">
              <a:lnSpc>
                <a:spcPct val="100000"/>
              </a:lnSpc>
              <a:spcBef>
                <a:spcPts val="85"/>
              </a:spcBef>
              <a:buFont typeface="Calibri" panose="020F0502020204030204"/>
              <a:buAutoNum type="arabicPeriod"/>
              <a:tabLst>
                <a:tab pos="511175" algn="l"/>
              </a:tabLst>
            </a:pPr>
            <a:r>
              <a:rPr lang="en-US" altLang="en-US" sz="2500">
                <a:latin typeface="Times New Roman" panose="02020603050405020304" charset="0"/>
                <a:cs typeface="Times New Roman" panose="02020603050405020304" charset="0"/>
              </a:rPr>
              <a:t>Robotics Automation: Implement finite automata for robot navigation, decision-making, and autonomous control systems.</a:t>
            </a:r>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840105">
              <a:lnSpc>
                <a:spcPct val="100000"/>
              </a:lnSpc>
              <a:spcBef>
                <a:spcPts val="95"/>
              </a:spcBef>
            </a:pPr>
            <a:r>
              <a:rPr spc="229" dirty="0"/>
              <a:t>Conclusion</a:t>
            </a:r>
            <a:endParaRPr spc="229" dirty="0"/>
          </a:p>
        </p:txBody>
      </p:sp>
      <p:pic>
        <p:nvPicPr>
          <p:cNvPr id="3" name="object 3"/>
          <p:cNvPicPr/>
          <p:nvPr/>
        </p:nvPicPr>
        <p:blipFill>
          <a:blip r:embed="rId1" cstate="print"/>
          <a:stretch>
            <a:fillRect/>
          </a:stretch>
        </p:blipFill>
        <p:spPr>
          <a:xfrm>
            <a:off x="356979" y="191426"/>
            <a:ext cx="1102436" cy="1341485"/>
          </a:xfrm>
          <a:prstGeom prst="rect">
            <a:avLst/>
          </a:prstGeom>
        </p:spPr>
      </p:pic>
      <p:pic>
        <p:nvPicPr>
          <p:cNvPr id="4" name="object 4"/>
          <p:cNvPicPr/>
          <p:nvPr/>
        </p:nvPicPr>
        <p:blipFill>
          <a:blip r:embed="rId2" cstate="print"/>
          <a:stretch>
            <a:fillRect/>
          </a:stretch>
        </p:blipFill>
        <p:spPr>
          <a:xfrm>
            <a:off x="10503279" y="191426"/>
            <a:ext cx="1518530" cy="1341485"/>
          </a:xfrm>
          <a:prstGeom prst="rect">
            <a:avLst/>
          </a:prstGeom>
        </p:spPr>
      </p:pic>
      <p:sp>
        <p:nvSpPr>
          <p:cNvPr id="5" name="object 5"/>
          <p:cNvSpPr txBox="1"/>
          <p:nvPr/>
        </p:nvSpPr>
        <p:spPr>
          <a:xfrm>
            <a:off x="908050" y="2133600"/>
            <a:ext cx="10800715" cy="2878455"/>
          </a:xfrm>
          <a:prstGeom prst="rect">
            <a:avLst/>
          </a:prstGeom>
        </p:spPr>
        <p:txBody>
          <a:bodyPr vert="horz" wrap="square" lIns="0" tIns="12700" rIns="0" bIns="0" rtlCol="0">
            <a:spAutoFit/>
          </a:bodyPr>
          <a:lstStyle/>
          <a:p>
            <a:pPr marL="12065" marR="742950" indent="0">
              <a:lnSpc>
                <a:spcPct val="149000"/>
              </a:lnSpc>
              <a:spcBef>
                <a:spcPts val="100"/>
              </a:spcBef>
              <a:buFont typeface="Calibri" panose="020F0502020204030204"/>
              <a:buNone/>
              <a:tabLst>
                <a:tab pos="511175" algn="l"/>
              </a:tabLst>
            </a:pPr>
            <a:r>
              <a:rPr lang="en-US" altLang="en-US" sz="2500">
                <a:latin typeface="Times New Roman" panose="02020603050405020304" charset="0"/>
                <a:cs typeface="Times New Roman" panose="02020603050405020304" charset="0"/>
              </a:rPr>
              <a:t>This presentation explained the concepts of DFA, NFA, ε-NFA, and Mathematical Induction. It demonstrated how different automata can be converted into equivalent models while preserving the accepted language. These concepts provide the theoretical foundation for modern computing systems, compiler design, pattern recognition, and artificial intelligence.</a:t>
            </a:r>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849630">
              <a:lnSpc>
                <a:spcPct val="100000"/>
              </a:lnSpc>
              <a:spcBef>
                <a:spcPts val="95"/>
              </a:spcBef>
            </a:pPr>
            <a:r>
              <a:rPr spc="229" dirty="0"/>
              <a:t>References</a:t>
            </a:r>
            <a:endParaRPr spc="229" dirty="0"/>
          </a:p>
        </p:txBody>
      </p:sp>
      <p:pic>
        <p:nvPicPr>
          <p:cNvPr id="3" name="object 3"/>
          <p:cNvPicPr/>
          <p:nvPr/>
        </p:nvPicPr>
        <p:blipFill>
          <a:blip r:embed="rId1" cstate="print"/>
          <a:stretch>
            <a:fillRect/>
          </a:stretch>
        </p:blipFill>
        <p:spPr>
          <a:xfrm>
            <a:off x="286193" y="-111"/>
            <a:ext cx="1102436" cy="1341485"/>
          </a:xfrm>
          <a:prstGeom prst="rect">
            <a:avLst/>
          </a:prstGeom>
        </p:spPr>
      </p:pic>
      <p:pic>
        <p:nvPicPr>
          <p:cNvPr id="4" name="object 4"/>
          <p:cNvPicPr/>
          <p:nvPr/>
        </p:nvPicPr>
        <p:blipFill>
          <a:blip r:embed="rId2" cstate="print"/>
          <a:stretch>
            <a:fillRect/>
          </a:stretch>
        </p:blipFill>
        <p:spPr>
          <a:xfrm>
            <a:off x="10585194" y="-344"/>
            <a:ext cx="1518530" cy="1341485"/>
          </a:xfrm>
          <a:prstGeom prst="rect">
            <a:avLst/>
          </a:prstGeom>
        </p:spPr>
      </p:pic>
      <p:pic>
        <p:nvPicPr>
          <p:cNvPr id="5" name="object 5"/>
          <p:cNvPicPr/>
          <p:nvPr/>
        </p:nvPicPr>
        <p:blipFill>
          <a:blip r:embed="rId3" cstate="print"/>
          <a:stretch>
            <a:fillRect/>
          </a:stretch>
        </p:blipFill>
        <p:spPr>
          <a:xfrm>
            <a:off x="2419159" y="2590953"/>
            <a:ext cx="112880" cy="149008"/>
          </a:xfrm>
          <a:prstGeom prst="rect">
            <a:avLst/>
          </a:prstGeom>
        </p:spPr>
      </p:pic>
      <p:pic>
        <p:nvPicPr>
          <p:cNvPr id="6" name="object 6"/>
          <p:cNvPicPr/>
          <p:nvPr/>
        </p:nvPicPr>
        <p:blipFill>
          <a:blip r:embed="rId4" cstate="print"/>
          <a:stretch>
            <a:fillRect/>
          </a:stretch>
        </p:blipFill>
        <p:spPr>
          <a:xfrm>
            <a:off x="6425007" y="3142828"/>
            <a:ext cx="112880" cy="149008"/>
          </a:xfrm>
          <a:prstGeom prst="rect">
            <a:avLst/>
          </a:prstGeom>
        </p:spPr>
      </p:pic>
      <p:pic>
        <p:nvPicPr>
          <p:cNvPr id="7" name="object 7"/>
          <p:cNvPicPr/>
          <p:nvPr/>
        </p:nvPicPr>
        <p:blipFill>
          <a:blip r:embed="rId5" cstate="print"/>
          <a:stretch>
            <a:fillRect/>
          </a:stretch>
        </p:blipFill>
        <p:spPr>
          <a:xfrm>
            <a:off x="7890329" y="4246576"/>
            <a:ext cx="112880" cy="149008"/>
          </a:xfrm>
          <a:prstGeom prst="rect">
            <a:avLst/>
          </a:prstGeom>
        </p:spPr>
      </p:pic>
      <p:pic>
        <p:nvPicPr>
          <p:cNvPr id="8" name="object 8"/>
          <p:cNvPicPr/>
          <p:nvPr/>
        </p:nvPicPr>
        <p:blipFill>
          <a:blip r:embed="rId4" cstate="print"/>
          <a:stretch>
            <a:fillRect/>
          </a:stretch>
        </p:blipFill>
        <p:spPr>
          <a:xfrm>
            <a:off x="7243303" y="4798451"/>
            <a:ext cx="112880" cy="149008"/>
          </a:xfrm>
          <a:prstGeom prst="rect">
            <a:avLst/>
          </a:prstGeom>
        </p:spPr>
      </p:pic>
      <p:pic>
        <p:nvPicPr>
          <p:cNvPr id="9" name="object 9"/>
          <p:cNvPicPr/>
          <p:nvPr/>
        </p:nvPicPr>
        <p:blipFill>
          <a:blip r:embed="rId6" cstate="print"/>
          <a:stretch>
            <a:fillRect/>
          </a:stretch>
        </p:blipFill>
        <p:spPr>
          <a:xfrm>
            <a:off x="7319424" y="5350325"/>
            <a:ext cx="112880" cy="149008"/>
          </a:xfrm>
          <a:prstGeom prst="rect">
            <a:avLst/>
          </a:prstGeom>
        </p:spPr>
      </p:pic>
      <p:sp>
        <p:nvSpPr>
          <p:cNvPr id="10" name="object 10"/>
          <p:cNvSpPr txBox="1">
            <a:spLocks noGrp="1"/>
          </p:cNvSpPr>
          <p:nvPr>
            <p:ph type="body" idx="1"/>
          </p:nvPr>
        </p:nvSpPr>
        <p:spPr>
          <a:xfrm>
            <a:off x="527050" y="1295400"/>
            <a:ext cx="11363325" cy="4705985"/>
          </a:xfrm>
          <a:prstGeom prst="rect">
            <a:avLst/>
          </a:prstGeom>
        </p:spPr>
        <p:txBody>
          <a:bodyPr vert="horz" wrap="square" lIns="0" tIns="12700" rIns="0" bIns="0" rtlCol="0">
            <a:spAutoFit/>
          </a:bodyPr>
          <a:lstStyle/>
          <a:p>
            <a:pPr marL="478790" marR="258445" indent="-466725">
              <a:lnSpc>
                <a:spcPct val="151000"/>
              </a:lnSpc>
              <a:spcBef>
                <a:spcPts val="100"/>
              </a:spcBef>
              <a:buFont typeface="Calibri" panose="020F0502020204030204"/>
              <a:buAutoNum type="arabicPeriod"/>
              <a:tabLst>
                <a:tab pos="478790" algn="l"/>
              </a:tabLst>
            </a:pPr>
            <a:r>
              <a:rPr lang="en-US" altLang="en-US" sz="2000" b="0" spc="-20" dirty="0">
                <a:latin typeface="Times New Roman" panose="02020603050405020304" charset="0"/>
                <a:cs typeface="Times New Roman" panose="02020603050405020304" charset="0"/>
              </a:rPr>
              <a:t>Hazard, E., &amp; Kuperberg, D., Explorable Automata, Proceedings of the 31st EACSL Conference on Computer Science Logic (CSL 2023), Leibniz International Proceedings in Informatics (LIPIcs), 2023.</a:t>
            </a:r>
            <a:endParaRPr lang="en-US" altLang="en-US" sz="2000" b="0" spc="-20" dirty="0">
              <a:latin typeface="Times New Roman" panose="02020603050405020304" charset="0"/>
              <a:cs typeface="Times New Roman" panose="02020603050405020304" charset="0"/>
            </a:endParaRPr>
          </a:p>
          <a:p>
            <a:pPr marL="478790" marR="258445" indent="-466725">
              <a:lnSpc>
                <a:spcPct val="151000"/>
              </a:lnSpc>
              <a:spcBef>
                <a:spcPts val="100"/>
              </a:spcBef>
              <a:buFont typeface="Calibri" panose="020F0502020204030204"/>
              <a:buAutoNum type="arabicPeriod"/>
              <a:tabLst>
                <a:tab pos="478790" algn="l"/>
              </a:tabLst>
            </a:pPr>
            <a:r>
              <a:rPr lang="en-US" altLang="en-US" sz="2000" b="0" spc="-20" dirty="0">
                <a:latin typeface="Times New Roman" panose="02020603050405020304" charset="0"/>
                <a:cs typeface="Times New Roman" panose="02020603050405020304" charset="0"/>
              </a:rPr>
              <a:t>Qiu, D., Learning Quantum Finite Automata with Queries, Mathematical Structures in Computer Science, Cambridge University Press, 2023.</a:t>
            </a:r>
            <a:endParaRPr lang="en-US" altLang="en-US" sz="2000" b="0" spc="-20" dirty="0">
              <a:latin typeface="Times New Roman" panose="02020603050405020304" charset="0"/>
              <a:cs typeface="Times New Roman" panose="02020603050405020304" charset="0"/>
            </a:endParaRPr>
          </a:p>
          <a:p>
            <a:pPr marL="478790" marR="258445" indent="-466725">
              <a:lnSpc>
                <a:spcPct val="151000"/>
              </a:lnSpc>
              <a:spcBef>
                <a:spcPts val="100"/>
              </a:spcBef>
              <a:buFont typeface="Calibri" panose="020F0502020204030204"/>
              <a:buAutoNum type="arabicPeriod"/>
              <a:tabLst>
                <a:tab pos="478790" algn="l"/>
              </a:tabLst>
            </a:pPr>
            <a:r>
              <a:rPr lang="en-US" altLang="en-US" sz="2000" b="0" spc="-20" dirty="0">
                <a:latin typeface="Times New Roman" panose="02020603050405020304" charset="0"/>
                <a:cs typeface="Times New Roman" panose="02020603050405020304" charset="0"/>
              </a:rPr>
              <a:t>Rodrigues, N., Sebe, M. O., Chen, X., &amp; Ro</a:t>
            </a:r>
            <a:r>
              <a:rPr lang="" altLang="en-US" sz="2000" b="0" spc="-20" dirty="0">
                <a:latin typeface="Times New Roman" panose="02020603050405020304" charset="0"/>
                <a:cs typeface="Times New Roman" panose="02020603050405020304" charset="0"/>
              </a:rPr>
              <a:t>ș</a:t>
            </a:r>
            <a:r>
              <a:rPr lang="en-US" altLang="en-US" sz="2000" b="0" spc="-20" dirty="0">
                <a:latin typeface="Times New Roman" panose="02020603050405020304" charset="0"/>
                <a:cs typeface="Times New Roman" panose="02020603050405020304" charset="0"/>
              </a:rPr>
              <a:t>u, G., A Logical Treatment of Finite Automata, Tools and Algorithms for the Construction and Analysis of Systems (TACAS 2024), Springer, 2024.</a:t>
            </a:r>
            <a:endParaRPr lang="en-US" altLang="en-US" sz="2000" b="0" spc="-20" dirty="0">
              <a:latin typeface="Times New Roman" panose="02020603050405020304" charset="0"/>
              <a:cs typeface="Times New Roman" panose="02020603050405020304" charset="0"/>
            </a:endParaRPr>
          </a:p>
          <a:p>
            <a:pPr marL="478790" marR="258445" indent="-466725">
              <a:lnSpc>
                <a:spcPct val="151000"/>
              </a:lnSpc>
              <a:spcBef>
                <a:spcPts val="100"/>
              </a:spcBef>
              <a:buFont typeface="Calibri" panose="020F0502020204030204"/>
              <a:buAutoNum type="arabicPeriod"/>
              <a:tabLst>
                <a:tab pos="478790" algn="l"/>
              </a:tabLst>
            </a:pPr>
            <a:r>
              <a:rPr lang="en-US" altLang="en-US" sz="2000" b="0" spc="-20" dirty="0">
                <a:latin typeface="Times New Roman" panose="02020603050405020304" charset="0"/>
                <a:cs typeface="Times New Roman" panose="02020603050405020304" charset="0"/>
              </a:rPr>
              <a:t>Pighizzini, G., Prigioniero, L., &amp; Sádovsk</a:t>
            </a:r>
            <a:r>
              <a:rPr lang="" altLang="en-US" sz="2000" b="0" spc="-20" dirty="0">
                <a:latin typeface="Times New Roman" panose="02020603050405020304" charset="0"/>
                <a:cs typeface="Times New Roman" panose="02020603050405020304" charset="0"/>
              </a:rPr>
              <a:t>ý, Š., </a:t>
            </a:r>
            <a:r>
              <a:rPr lang="en-US" altLang="en-US" sz="2000" b="0" spc="-20" dirty="0">
                <a:latin typeface="Times New Roman" panose="02020603050405020304" charset="0"/>
                <a:cs typeface="Times New Roman" panose="02020603050405020304" charset="0"/>
              </a:rPr>
              <a:t>Performing Regular Operations with 1-Limited Automata, Theory of Computing Systems, Vol. 68, 2024.</a:t>
            </a:r>
            <a:endParaRPr lang="en-US" altLang="en-US" sz="2000" b="0" spc="-20" dirty="0">
              <a:latin typeface="Times New Roman" panose="02020603050405020304" charset="0"/>
              <a:cs typeface="Times New Roman" panose="02020603050405020304" charset="0"/>
            </a:endParaRPr>
          </a:p>
          <a:p>
            <a:pPr marL="478790" marR="258445" indent="-466725">
              <a:lnSpc>
                <a:spcPct val="151000"/>
              </a:lnSpc>
              <a:spcBef>
                <a:spcPts val="100"/>
              </a:spcBef>
              <a:buFont typeface="Calibri" panose="020F0502020204030204"/>
              <a:buAutoNum type="arabicPeriod"/>
              <a:tabLst>
                <a:tab pos="478790" algn="l"/>
              </a:tabLst>
            </a:pPr>
            <a:r>
              <a:rPr lang="en-US" altLang="en-US" sz="2000" b="0" spc="-20" dirty="0">
                <a:latin typeface="Times New Roman" panose="02020603050405020304" charset="0"/>
                <a:cs typeface="Times New Roman" panose="02020603050405020304" charset="0"/>
              </a:rPr>
              <a:t>Salomaa, A., Salomaa, K., &amp; Smith, T. J., Descriptional Complexity of Finite Automata – Selected Highlights, Fundamenta Informaticae, Vol. 191, 2024.</a:t>
            </a:r>
            <a:endParaRPr lang="en-US" altLang="en-US" sz="2000" b="0" spc="-20" dirty="0">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785666" y="3054326"/>
            <a:ext cx="2973070" cy="695325"/>
          </a:xfrm>
          <a:prstGeom prst="rect">
            <a:avLst/>
          </a:prstGeom>
        </p:spPr>
        <p:txBody>
          <a:bodyPr vert="horz" wrap="square" lIns="0" tIns="12065" rIns="0" bIns="0" rtlCol="0">
            <a:spAutoFit/>
          </a:bodyPr>
          <a:lstStyle/>
          <a:p>
            <a:pPr marL="12700">
              <a:lnSpc>
                <a:spcPct val="100000"/>
              </a:lnSpc>
              <a:spcBef>
                <a:spcPts val="95"/>
              </a:spcBef>
            </a:pPr>
            <a:r>
              <a:rPr i="1" spc="150" dirty="0">
                <a:latin typeface="Roboto Bk"/>
                <a:cs typeface="Roboto Bk"/>
              </a:rPr>
              <a:t>Thank</a:t>
            </a:r>
            <a:r>
              <a:rPr i="1" spc="55" dirty="0">
                <a:latin typeface="Roboto Bk"/>
                <a:cs typeface="Roboto Bk"/>
              </a:rPr>
              <a:t> </a:t>
            </a:r>
            <a:r>
              <a:rPr i="1" spc="-20" dirty="0">
                <a:latin typeface="Roboto Bk"/>
                <a:cs typeface="Roboto Bk"/>
              </a:rPr>
              <a:t>You!</a:t>
            </a:r>
            <a:endParaRPr i="1" spc="-20" dirty="0">
              <a:latin typeface="Roboto Bk"/>
              <a:cs typeface="Roboto Bk"/>
            </a:endParaRPr>
          </a:p>
        </p:txBody>
      </p:sp>
      <p:pic>
        <p:nvPicPr>
          <p:cNvPr id="3" name="object 3"/>
          <p:cNvPicPr/>
          <p:nvPr/>
        </p:nvPicPr>
        <p:blipFill>
          <a:blip r:embed="rId1" cstate="print"/>
          <a:stretch>
            <a:fillRect/>
          </a:stretch>
        </p:blipFill>
        <p:spPr>
          <a:xfrm>
            <a:off x="10503279" y="191426"/>
            <a:ext cx="1518530" cy="1341485"/>
          </a:xfrm>
          <a:prstGeom prst="rect">
            <a:avLst/>
          </a:prstGeom>
        </p:spPr>
      </p:pic>
      <p:pic>
        <p:nvPicPr>
          <p:cNvPr id="4" name="object 4"/>
          <p:cNvPicPr/>
          <p:nvPr/>
        </p:nvPicPr>
        <p:blipFill>
          <a:blip r:embed="rId2" cstate="print"/>
          <a:stretch>
            <a:fillRect/>
          </a:stretch>
        </p:blipFill>
        <p:spPr>
          <a:xfrm>
            <a:off x="286193" y="174514"/>
            <a:ext cx="1102436" cy="134148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5496</Words>
  <Application>WPS Presentation</Application>
  <PresentationFormat>On-screen Show (4:3)</PresentationFormat>
  <Paragraphs>113</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Roboto</vt:lpstr>
      <vt:lpstr>Times New Roman</vt:lpstr>
      <vt:lpstr>Roboto Bk</vt:lpstr>
      <vt:lpstr>Segoe Print</vt:lpstr>
      <vt:lpstr>Calibri</vt:lpstr>
      <vt:lpstr>Roboto</vt:lpstr>
      <vt:lpstr>Microsoft YaHei</vt:lpstr>
      <vt:lpstr>Arial Unicode MS</vt:lpstr>
      <vt:lpstr>Office Theme</vt:lpstr>
      <vt:lpstr>Automata Theory NFA,DFA, MATHEMATICAL INDUCTION</vt:lpstr>
      <vt:lpstr>Introduction</vt:lpstr>
      <vt:lpstr>PowerPoint 演示文稿</vt:lpstr>
      <vt:lpstr>Objectives</vt:lpstr>
      <vt:lpstr>Proposed System</vt:lpstr>
      <vt:lpstr>Advantages</vt:lpstr>
      <vt:lpstr>Technologies used</vt:lpstr>
      <vt:lpstr>Resume Upload and Management Module</vt:lpstr>
      <vt:lpstr>Module 2 Resume Parsing and Data Extraction Module</vt:lpstr>
      <vt:lpstr>Module 3 AI-Based Candidate Screening Module</vt:lpstr>
      <vt:lpstr>Module 4 Candidate Ranking and Recommendation Module  </vt:lpstr>
      <vt:lpstr>Future Scope</vt:lpstr>
      <vt:lpstr>Conclusion</vt:lpstr>
      <vt:lpstr>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based smart resume screening and recriutment system</dc:title>
  <dc:creator/>
  <cp:lastModifiedBy>vemul</cp:lastModifiedBy>
  <cp:revision>7</cp:revision>
  <dcterms:created xsi:type="dcterms:W3CDTF">2026-06-14T14:28:00Z</dcterms:created>
  <dcterms:modified xsi:type="dcterms:W3CDTF">2026-07-27T12:03:32Z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2026-06-14T22:00:00Z</vt:filetime>
  </property>
  <property fmtid="{D5CDD505-2E9C-101B-9397-08002B2CF9AE}" pid="4" name="Producer">
    <vt:lpwstr>Skia/PDF m128</vt:lpwstr>
  </property>
  <property fmtid="{D5CDD505-2E9C-101B-9397-08002B2CF9AE}" pid="5" name="LastSaved">
    <vt:filetime>2026-06-14T22:00:00Z</vt:filetime>
  </property>
  <property fmtid="{D5CDD505-2E9C-101B-9397-08002B2CF9AE}" pid="6" name="KSOProductBuildVer">
    <vt:lpwstr>1033-12.1.0.27458</vt:lpwstr>
  </property>
  <property fmtid="{D5CDD505-2E9C-101B-9397-08002B2CF9AE}" pid="7" name="ICV">
    <vt:lpwstr>81F0770A7050401C94F0E73A5B9F533A_13</vt:lpwstr>
  </property>
</Properties>
</file>